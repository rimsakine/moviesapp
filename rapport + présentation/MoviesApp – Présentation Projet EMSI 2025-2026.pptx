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ial MT Pro Bold" charset="1" panose="020B0802020202020204"/>
      <p:regular r:id="rId21"/>
    </p:embeddedFont>
    <p:embeddedFont>
      <p:font typeface="Arial MT Pro" charset="1" panose="020B0502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8338889" y="-1151203"/>
            <a:ext cx="11427855" cy="16267409"/>
          </a:xfrm>
          <a:custGeom>
            <a:avLst/>
            <a:gdLst/>
            <a:ahLst/>
            <a:cxnLst/>
            <a:rect r="r" b="b" t="t" l="l"/>
            <a:pathLst>
              <a:path h="16267409" w="11427855">
                <a:moveTo>
                  <a:pt x="0" y="0"/>
                </a:moveTo>
                <a:lnTo>
                  <a:pt x="11427855" y="0"/>
                </a:lnTo>
                <a:lnTo>
                  <a:pt x="11427855" y="16267409"/>
                </a:lnTo>
                <a:lnTo>
                  <a:pt x="0" y="16267409"/>
                </a:lnTo>
                <a:lnTo>
                  <a:pt x="0" y="0"/>
                </a:lnTo>
                <a:close/>
              </a:path>
            </a:pathLst>
          </a:custGeom>
          <a:blipFill>
            <a:blip r:embed="rId2">
              <a:alphaModFix amt="60000"/>
            </a:blip>
            <a:stretch>
              <a:fillRect l="0" t="0" r="0" b="0"/>
            </a:stretch>
          </a:blipFill>
        </p:spPr>
      </p:sp>
      <p:grpSp>
        <p:nvGrpSpPr>
          <p:cNvPr name="Group 3" id="3"/>
          <p:cNvGrpSpPr/>
          <p:nvPr/>
        </p:nvGrpSpPr>
        <p:grpSpPr>
          <a:xfrm rot="0">
            <a:off x="2173721" y="6425645"/>
            <a:ext cx="3353748" cy="717442"/>
            <a:chOff x="0" y="0"/>
            <a:chExt cx="1899754" cy="406400"/>
          </a:xfrm>
        </p:grpSpPr>
        <p:sp>
          <p:nvSpPr>
            <p:cNvPr name="Freeform 4" id="4"/>
            <p:cNvSpPr/>
            <p:nvPr/>
          </p:nvSpPr>
          <p:spPr>
            <a:xfrm flipH="false" flipV="false" rot="0">
              <a:off x="0" y="0"/>
              <a:ext cx="1899754" cy="406400"/>
            </a:xfrm>
            <a:custGeom>
              <a:avLst/>
              <a:gdLst/>
              <a:ahLst/>
              <a:cxnLst/>
              <a:rect r="r" b="b" t="t" l="l"/>
              <a:pathLst>
                <a:path h="406400" w="1899754">
                  <a:moveTo>
                    <a:pt x="1696554" y="0"/>
                  </a:moveTo>
                  <a:cubicBezTo>
                    <a:pt x="1808778" y="0"/>
                    <a:pt x="1899754" y="90976"/>
                    <a:pt x="1899754" y="203200"/>
                  </a:cubicBezTo>
                  <a:cubicBezTo>
                    <a:pt x="1899754" y="315424"/>
                    <a:pt x="1808778" y="406400"/>
                    <a:pt x="169655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89975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1099609" y="878586"/>
            <a:ext cx="451962" cy="440211"/>
          </a:xfrm>
          <a:custGeom>
            <a:avLst/>
            <a:gdLst/>
            <a:ahLst/>
            <a:cxnLst/>
            <a:rect r="r" b="b" t="t" l="l"/>
            <a:pathLst>
              <a:path h="440211" w="451962">
                <a:moveTo>
                  <a:pt x="0" y="0"/>
                </a:moveTo>
                <a:lnTo>
                  <a:pt x="451962" y="0"/>
                </a:lnTo>
                <a:lnTo>
                  <a:pt x="451962" y="440211"/>
                </a:lnTo>
                <a:lnTo>
                  <a:pt x="0" y="440211"/>
                </a:lnTo>
                <a:lnTo>
                  <a:pt x="0" y="0"/>
                </a:lnTo>
                <a:close/>
              </a:path>
            </a:pathLst>
          </a:custGeom>
          <a:blipFill>
            <a:blip r:embed="rId3"/>
            <a:stretch>
              <a:fillRect l="0" t="0" r="0" b="0"/>
            </a:stretch>
          </a:blipFill>
        </p:spPr>
      </p:sp>
      <p:grpSp>
        <p:nvGrpSpPr>
          <p:cNvPr name="Group 7" id="7"/>
          <p:cNvGrpSpPr/>
          <p:nvPr/>
        </p:nvGrpSpPr>
        <p:grpSpPr>
          <a:xfrm rot="1383774">
            <a:off x="7565571" y="197405"/>
            <a:ext cx="11226909" cy="14341591"/>
            <a:chOff x="0" y="0"/>
            <a:chExt cx="2956881" cy="3777209"/>
          </a:xfrm>
        </p:grpSpPr>
        <p:sp>
          <p:nvSpPr>
            <p:cNvPr name="Freeform 8" id="8"/>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9" id="9"/>
            <p:cNvSpPr txBox="true"/>
            <p:nvPr/>
          </p:nvSpPr>
          <p:spPr>
            <a:xfrm>
              <a:off x="0" y="28575"/>
              <a:ext cx="2956881" cy="3748634"/>
            </a:xfrm>
            <a:prstGeom prst="rect">
              <a:avLst/>
            </a:prstGeom>
          </p:spPr>
          <p:txBody>
            <a:bodyPr anchor="ctr" rtlCol="false" tIns="50800" lIns="50800" bIns="50800" rIns="50800"/>
            <a:lstStyle/>
            <a:p>
              <a:pPr algn="ctr" marL="0" indent="0" lvl="0">
                <a:lnSpc>
                  <a:spcPts val="2267"/>
                </a:lnSpc>
              </a:pPr>
            </a:p>
          </p:txBody>
        </p:sp>
      </p:grpSp>
      <p:grpSp>
        <p:nvGrpSpPr>
          <p:cNvPr name="Group 10" id="10"/>
          <p:cNvGrpSpPr/>
          <p:nvPr/>
        </p:nvGrpSpPr>
        <p:grpSpPr>
          <a:xfrm rot="1383774">
            <a:off x="7012072" y="108644"/>
            <a:ext cx="10773748" cy="14341591"/>
            <a:chOff x="0" y="0"/>
            <a:chExt cx="2837530" cy="3777209"/>
          </a:xfrm>
        </p:grpSpPr>
        <p:sp>
          <p:nvSpPr>
            <p:cNvPr name="Freeform 11" id="11"/>
            <p:cNvSpPr/>
            <p:nvPr/>
          </p:nvSpPr>
          <p:spPr>
            <a:xfrm flipH="false" flipV="false" rot="0">
              <a:off x="0" y="0"/>
              <a:ext cx="2837530" cy="3777209"/>
            </a:xfrm>
            <a:custGeom>
              <a:avLst/>
              <a:gdLst/>
              <a:ahLst/>
              <a:cxnLst/>
              <a:rect r="r" b="b" t="t" l="l"/>
              <a:pathLst>
                <a:path h="3777209" w="2837530">
                  <a:moveTo>
                    <a:pt x="0" y="0"/>
                  </a:moveTo>
                  <a:lnTo>
                    <a:pt x="2837530" y="0"/>
                  </a:lnTo>
                  <a:lnTo>
                    <a:pt x="2837530" y="3777209"/>
                  </a:lnTo>
                  <a:lnTo>
                    <a:pt x="0" y="3777209"/>
                  </a:lnTo>
                  <a:close/>
                </a:path>
              </a:pathLst>
            </a:custGeom>
            <a:gradFill rotWithShape="true">
              <a:gsLst>
                <a:gs pos="0">
                  <a:srgbClr val="141519">
                    <a:alpha val="100000"/>
                  </a:srgbClr>
                </a:gs>
                <a:gs pos="100000">
                  <a:srgbClr val="141519">
                    <a:alpha val="0"/>
                  </a:srgbClr>
                </a:gs>
              </a:gsLst>
              <a:lin ang="0"/>
            </a:gradFill>
          </p:spPr>
        </p:sp>
        <p:sp>
          <p:nvSpPr>
            <p:cNvPr name="TextBox 12" id="12"/>
            <p:cNvSpPr txBox="true"/>
            <p:nvPr/>
          </p:nvSpPr>
          <p:spPr>
            <a:xfrm>
              <a:off x="0" y="28575"/>
              <a:ext cx="2837530" cy="3748634"/>
            </a:xfrm>
            <a:prstGeom prst="rect">
              <a:avLst/>
            </a:prstGeom>
          </p:spPr>
          <p:txBody>
            <a:bodyPr anchor="ctr" rtlCol="false" tIns="50800" lIns="50800" bIns="50800" rIns="50800"/>
            <a:lstStyle/>
            <a:p>
              <a:pPr algn="ctr" marL="0" indent="0" lvl="0">
                <a:lnSpc>
                  <a:spcPts val="2267"/>
                </a:lnSpc>
              </a:pPr>
            </a:p>
          </p:txBody>
        </p:sp>
      </p:grpSp>
      <p:grpSp>
        <p:nvGrpSpPr>
          <p:cNvPr name="Group 13" id="13"/>
          <p:cNvGrpSpPr/>
          <p:nvPr/>
        </p:nvGrpSpPr>
        <p:grpSpPr>
          <a:xfrm rot="0">
            <a:off x="15154957" y="756844"/>
            <a:ext cx="2104343" cy="481425"/>
            <a:chOff x="0" y="0"/>
            <a:chExt cx="1776404" cy="406400"/>
          </a:xfrm>
        </p:grpSpPr>
        <p:sp>
          <p:nvSpPr>
            <p:cNvPr name="Freeform 14" id="1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15" id="1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6" id="16"/>
          <p:cNvSpPr txBox="true"/>
          <p:nvPr/>
        </p:nvSpPr>
        <p:spPr>
          <a:xfrm rot="0">
            <a:off x="2054482" y="3267738"/>
            <a:ext cx="7089518" cy="1509292"/>
          </a:xfrm>
          <a:prstGeom prst="rect">
            <a:avLst/>
          </a:prstGeom>
        </p:spPr>
        <p:txBody>
          <a:bodyPr anchor="t" rtlCol="false" tIns="0" lIns="0" bIns="0" rIns="0">
            <a:spAutoFit/>
          </a:bodyPr>
          <a:lstStyle/>
          <a:p>
            <a:pPr algn="l" marL="0" indent="0" lvl="0">
              <a:lnSpc>
                <a:spcPts val="9469"/>
              </a:lnSpc>
            </a:pPr>
            <a:r>
              <a:rPr lang="en-US" b="true" sz="10760" spc="-172">
                <a:solidFill>
                  <a:srgbClr val="FFFFFF"/>
                </a:solidFill>
                <a:latin typeface="Arial MT Pro Bold"/>
                <a:ea typeface="Arial MT Pro Bold"/>
                <a:cs typeface="Arial MT Pro Bold"/>
                <a:sym typeface="Arial MT Pro Bold"/>
              </a:rPr>
              <a:t>MoviesApp</a:t>
            </a:r>
          </a:p>
        </p:txBody>
      </p:sp>
      <p:sp>
        <p:nvSpPr>
          <p:cNvPr name="TextBox 17" id="17"/>
          <p:cNvSpPr txBox="true"/>
          <p:nvPr/>
        </p:nvSpPr>
        <p:spPr>
          <a:xfrm rot="0">
            <a:off x="1795032" y="911402"/>
            <a:ext cx="1302079" cy="214731"/>
          </a:xfrm>
          <a:prstGeom prst="rect">
            <a:avLst/>
          </a:prstGeom>
        </p:spPr>
        <p:txBody>
          <a:bodyPr anchor="t" rtlCol="false" tIns="0" lIns="0" bIns="0" rIns="0">
            <a:spAutoFit/>
          </a:bodyPr>
          <a:lstStyle/>
          <a:p>
            <a:pPr algn="l" marL="0" indent="0" lvl="0">
              <a:lnSpc>
                <a:spcPts val="1304"/>
              </a:lnSpc>
            </a:pPr>
            <a:r>
              <a:rPr lang="en-US" b="true" sz="1482" spc="-23">
                <a:solidFill>
                  <a:srgbClr val="FFFFFF"/>
                </a:solidFill>
                <a:latin typeface="Arial MT Pro Bold"/>
                <a:ea typeface="Arial MT Pro Bold"/>
                <a:cs typeface="Arial MT Pro Bold"/>
                <a:sym typeface="Arial MT Pro Bold"/>
              </a:rPr>
              <a:t>MoviesApp</a:t>
            </a:r>
          </a:p>
        </p:txBody>
      </p:sp>
      <p:sp>
        <p:nvSpPr>
          <p:cNvPr name="TextBox 18" id="18"/>
          <p:cNvSpPr txBox="true"/>
          <p:nvPr/>
        </p:nvSpPr>
        <p:spPr>
          <a:xfrm rot="0">
            <a:off x="13923200" y="911402"/>
            <a:ext cx="3002725" cy="175641"/>
          </a:xfrm>
          <a:prstGeom prst="rect">
            <a:avLst/>
          </a:prstGeom>
        </p:spPr>
        <p:txBody>
          <a:bodyPr anchor="t" rtlCol="false" tIns="0" lIns="0" bIns="0" rIns="0">
            <a:spAutoFit/>
          </a:bodyPr>
          <a:lstStyle/>
          <a:p>
            <a:pPr algn="r" marL="0" indent="0" lvl="0">
              <a:lnSpc>
                <a:spcPts val="1122"/>
              </a:lnSpc>
            </a:pPr>
            <a:r>
              <a:rPr lang="en-US" sz="1275">
                <a:solidFill>
                  <a:srgbClr val="FFFFFF"/>
                </a:solidFill>
                <a:latin typeface="Arial MT Pro"/>
                <a:ea typeface="Arial MT Pro"/>
                <a:cs typeface="Arial MT Pro"/>
                <a:sym typeface="Arial MT Pro"/>
              </a:rPr>
              <a:t>@rimsakine</a:t>
            </a:r>
          </a:p>
        </p:txBody>
      </p:sp>
      <p:sp>
        <p:nvSpPr>
          <p:cNvPr name="TextBox 19" id="19"/>
          <p:cNvSpPr txBox="true"/>
          <p:nvPr/>
        </p:nvSpPr>
        <p:spPr>
          <a:xfrm rot="0">
            <a:off x="13179026" y="911402"/>
            <a:ext cx="1136202" cy="175641"/>
          </a:xfrm>
          <a:prstGeom prst="rect">
            <a:avLst/>
          </a:prstGeom>
        </p:spPr>
        <p:txBody>
          <a:bodyPr anchor="t" rtlCol="false" tIns="0" lIns="0" bIns="0" rIns="0">
            <a:spAutoFit/>
          </a:bodyPr>
          <a:lstStyle/>
          <a:p>
            <a:pPr algn="r" marL="0" indent="0" lvl="0">
              <a:lnSpc>
                <a:spcPts val="1122"/>
              </a:lnSpc>
            </a:pPr>
            <a:r>
              <a:rPr lang="en-US" sz="1275">
                <a:solidFill>
                  <a:srgbClr val="FFFFFF"/>
                </a:solidFill>
                <a:latin typeface="Arial MT Pro"/>
                <a:ea typeface="Arial MT Pro"/>
                <a:cs typeface="Arial MT Pro"/>
                <a:sym typeface="Arial MT Pro"/>
              </a:rPr>
              <a:t>EMSI</a:t>
            </a:r>
          </a:p>
        </p:txBody>
      </p:sp>
      <p:sp>
        <p:nvSpPr>
          <p:cNvPr name="TextBox 20" id="20"/>
          <p:cNvSpPr txBox="true"/>
          <p:nvPr/>
        </p:nvSpPr>
        <p:spPr>
          <a:xfrm rot="0">
            <a:off x="11721551" y="911402"/>
            <a:ext cx="811975" cy="175641"/>
          </a:xfrm>
          <a:prstGeom prst="rect">
            <a:avLst/>
          </a:prstGeom>
        </p:spPr>
        <p:txBody>
          <a:bodyPr anchor="t" rtlCol="false" tIns="0" lIns="0" bIns="0" rIns="0">
            <a:spAutoFit/>
          </a:bodyPr>
          <a:lstStyle/>
          <a:p>
            <a:pPr algn="r" marL="0" indent="0" lvl="0">
              <a:lnSpc>
                <a:spcPts val="1122"/>
              </a:lnSpc>
            </a:pPr>
            <a:r>
              <a:rPr lang="en-US" sz="1275">
                <a:solidFill>
                  <a:srgbClr val="FFFFFF"/>
                </a:solidFill>
                <a:latin typeface="Arial MT Pro"/>
                <a:ea typeface="Arial MT Pro"/>
                <a:cs typeface="Arial MT Pro"/>
                <a:sym typeface="Arial MT Pro"/>
              </a:rPr>
              <a:t>2025-2026</a:t>
            </a:r>
          </a:p>
        </p:txBody>
      </p:sp>
      <p:sp>
        <p:nvSpPr>
          <p:cNvPr name="TextBox 21" id="21"/>
          <p:cNvSpPr txBox="true"/>
          <p:nvPr/>
        </p:nvSpPr>
        <p:spPr>
          <a:xfrm rot="0">
            <a:off x="2617728" y="6631280"/>
            <a:ext cx="2587398" cy="380795"/>
          </a:xfrm>
          <a:prstGeom prst="rect">
            <a:avLst/>
          </a:prstGeom>
        </p:spPr>
        <p:txBody>
          <a:bodyPr anchor="t" rtlCol="false" tIns="0" lIns="0" bIns="0" rIns="0">
            <a:spAutoFit/>
          </a:bodyPr>
          <a:lstStyle/>
          <a:p>
            <a:pPr algn="l" marL="0" indent="0" lvl="0">
              <a:lnSpc>
                <a:spcPts val="1327"/>
              </a:lnSpc>
            </a:pPr>
            <a:r>
              <a:rPr lang="en-US" sz="1508">
                <a:solidFill>
                  <a:srgbClr val="FFFFFF"/>
                </a:solidFill>
                <a:latin typeface="Arial MT Pro"/>
                <a:ea typeface="Arial MT Pro"/>
                <a:cs typeface="Arial MT Pro"/>
                <a:sym typeface="Arial MT Pro"/>
              </a:rPr>
              <a:t>Projet EMSI 2025-2026 par Rim Sakine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1235334" y="0"/>
            <a:ext cx="9457763" cy="10287000"/>
            <a:chOff x="0" y="0"/>
            <a:chExt cx="2490933" cy="2709333"/>
          </a:xfrm>
        </p:grpSpPr>
        <p:sp>
          <p:nvSpPr>
            <p:cNvPr name="Freeform 4" id="4"/>
            <p:cNvSpPr/>
            <p:nvPr/>
          </p:nvSpPr>
          <p:spPr>
            <a:xfrm flipH="false" flipV="false" rot="0">
              <a:off x="0" y="0"/>
              <a:ext cx="2490933" cy="2709333"/>
            </a:xfrm>
            <a:custGeom>
              <a:avLst/>
              <a:gdLst/>
              <a:ahLst/>
              <a:cxnLst/>
              <a:rect r="r" b="b" t="t" l="l"/>
              <a:pathLst>
                <a:path h="2709333" w="2490933">
                  <a:moveTo>
                    <a:pt x="0" y="0"/>
                  </a:moveTo>
                  <a:lnTo>
                    <a:pt x="2490933" y="0"/>
                  </a:lnTo>
                  <a:lnTo>
                    <a:pt x="2490933" y="2709333"/>
                  </a:lnTo>
                  <a:lnTo>
                    <a:pt x="0" y="2709333"/>
                  </a:lnTo>
                  <a:close/>
                </a:path>
              </a:pathLst>
            </a:custGeom>
            <a:gradFill rotWithShape="true">
              <a:gsLst>
                <a:gs pos="0">
                  <a:srgbClr val="141519">
                    <a:alpha val="100000"/>
                  </a:srgbClr>
                </a:gs>
                <a:gs pos="100000">
                  <a:srgbClr val="141519">
                    <a:alpha val="0"/>
                  </a:srgbClr>
                </a:gs>
              </a:gsLst>
              <a:lin ang="0"/>
            </a:gradFill>
          </p:spPr>
        </p:sp>
        <p:sp>
          <p:nvSpPr>
            <p:cNvPr name="TextBox 5" id="5"/>
            <p:cNvSpPr txBox="true"/>
            <p:nvPr/>
          </p:nvSpPr>
          <p:spPr>
            <a:xfrm>
              <a:off x="0" y="19050"/>
              <a:ext cx="2490933" cy="2690283"/>
            </a:xfrm>
            <a:prstGeom prst="rect">
              <a:avLst/>
            </a:prstGeom>
          </p:spPr>
          <p:txBody>
            <a:bodyPr anchor="ctr" rtlCol="false" tIns="50800" lIns="50800" bIns="50800" rIns="50800"/>
            <a:lstStyle/>
            <a:p>
              <a:pPr algn="ctr" marL="0" indent="0" lvl="0">
                <a:lnSpc>
                  <a:spcPts val="1387"/>
                </a:lnSpc>
              </a:pPr>
            </a:p>
          </p:txBody>
        </p:sp>
      </p:grpSp>
      <p:sp>
        <p:nvSpPr>
          <p:cNvPr name="Freeform 6" id="6"/>
          <p:cNvSpPr/>
          <p:nvPr/>
        </p:nvSpPr>
        <p:spPr>
          <a:xfrm flipH="false" flipV="false" rot="0">
            <a:off x="1098348" y="872211"/>
            <a:ext cx="451783" cy="450946"/>
          </a:xfrm>
          <a:custGeom>
            <a:avLst/>
            <a:gdLst/>
            <a:ahLst/>
            <a:cxnLst/>
            <a:rect r="r" b="b" t="t" l="l"/>
            <a:pathLst>
              <a:path h="450946" w="451783">
                <a:moveTo>
                  <a:pt x="0" y="0"/>
                </a:moveTo>
                <a:lnTo>
                  <a:pt x="451783" y="0"/>
                </a:lnTo>
                <a:lnTo>
                  <a:pt x="451783" y="450946"/>
                </a:lnTo>
                <a:lnTo>
                  <a:pt x="0" y="450946"/>
                </a:lnTo>
                <a:lnTo>
                  <a:pt x="0" y="0"/>
                </a:lnTo>
                <a:close/>
              </a:path>
            </a:pathLst>
          </a:custGeom>
          <a:blipFill>
            <a:blip r:embed="rId3"/>
            <a:stretch>
              <a:fillRect l="0" t="0" r="0" b="0"/>
            </a:stretch>
          </a:blipFill>
        </p:spPr>
      </p:sp>
      <p:grpSp>
        <p:nvGrpSpPr>
          <p:cNvPr name="Group 7" id="7"/>
          <p:cNvGrpSpPr/>
          <p:nvPr/>
        </p:nvGrpSpPr>
        <p:grpSpPr>
          <a:xfrm rot="0">
            <a:off x="15154957" y="756844"/>
            <a:ext cx="2104343" cy="481425"/>
            <a:chOff x="0" y="0"/>
            <a:chExt cx="1776404" cy="406400"/>
          </a:xfrm>
        </p:grpSpPr>
        <p:sp>
          <p:nvSpPr>
            <p:cNvPr name="Freeform 8" id="8"/>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9" id="9"/>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11" id="11"/>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02/18</a:t>
            </a:r>
          </a:p>
        </p:txBody>
      </p:sp>
      <p:sp>
        <p:nvSpPr>
          <p:cNvPr name="TextBox 12" id="12"/>
          <p:cNvSpPr txBox="true"/>
          <p:nvPr/>
        </p:nvSpPr>
        <p:spPr>
          <a:xfrm rot="0">
            <a:off x="2054482" y="2894776"/>
            <a:ext cx="10313407" cy="1199782"/>
          </a:xfrm>
          <a:prstGeom prst="rect">
            <a:avLst/>
          </a:prstGeom>
        </p:spPr>
        <p:txBody>
          <a:bodyPr anchor="t" rtlCol="false" tIns="0" lIns="0" bIns="0" rIns="0">
            <a:spAutoFit/>
          </a:bodyPr>
          <a:lstStyle/>
          <a:p>
            <a:pPr algn="l" marL="0" indent="0" lvl="0">
              <a:lnSpc>
                <a:spcPts val="7775"/>
              </a:lnSpc>
            </a:pPr>
            <a:r>
              <a:rPr lang="en-US" b="true" sz="8015" spc="-128">
                <a:solidFill>
                  <a:srgbClr val="FFFFFF"/>
                </a:solidFill>
                <a:latin typeface="Arial MT Pro Bold"/>
                <a:ea typeface="Arial MT Pro Bold"/>
                <a:cs typeface="Arial MT Pro Bold"/>
                <a:sym typeface="Arial MT Pro Bold"/>
              </a:rPr>
              <a:t>Contexte Général</a:t>
            </a:r>
          </a:p>
        </p:txBody>
      </p:sp>
      <p:sp>
        <p:nvSpPr>
          <p:cNvPr name="TextBox 13" id="13"/>
          <p:cNvSpPr txBox="true"/>
          <p:nvPr/>
        </p:nvSpPr>
        <p:spPr>
          <a:xfrm rot="0">
            <a:off x="2054482" y="6345045"/>
            <a:ext cx="5790977" cy="1960240"/>
          </a:xfrm>
          <a:prstGeom prst="rect">
            <a:avLst/>
          </a:prstGeom>
        </p:spPr>
        <p:txBody>
          <a:bodyPr anchor="t" rtlCol="false" tIns="0" lIns="0" bIns="0" rIns="0">
            <a:spAutoFit/>
          </a:bodyPr>
          <a:lstStyle/>
          <a:p>
            <a:pPr algn="just" marL="0" indent="0" lvl="0">
              <a:lnSpc>
                <a:spcPts val="2205"/>
              </a:lnSpc>
              <a:spcBef>
                <a:spcPct val="0"/>
              </a:spcBef>
            </a:pPr>
            <a:r>
              <a:rPr lang="en-US" sz="1575">
                <a:solidFill>
                  <a:srgbClr val="FFFFFF"/>
                </a:solidFill>
                <a:latin typeface="Arial MT Pro"/>
                <a:ea typeface="Arial MT Pro"/>
                <a:cs typeface="Arial MT Pro"/>
                <a:sym typeface="Arial MT Pro"/>
              </a:rPr>
              <a:t>Les applications classiques de recherche de films présentent des limites importantes : recherche basique, absence de recommandations personnalisées et manque d'intégration avec la géolocalisation des cinémas. MoviesApp répond à ce besoin en proposant une solution intégrée combinant recherche avancée, recommandation intelligente et localisation des salles de cinéma.</a:t>
            </a:r>
          </a:p>
        </p:txBody>
      </p:sp>
      <p:grpSp>
        <p:nvGrpSpPr>
          <p:cNvPr name="Group 14" id="14"/>
          <p:cNvGrpSpPr/>
          <p:nvPr/>
        </p:nvGrpSpPr>
        <p:grpSpPr>
          <a:xfrm rot="-4011154">
            <a:off x="12755358" y="3032614"/>
            <a:ext cx="17403374" cy="15009081"/>
            <a:chOff x="0" y="0"/>
            <a:chExt cx="4583605" cy="3953009"/>
          </a:xfrm>
        </p:grpSpPr>
        <p:sp>
          <p:nvSpPr>
            <p:cNvPr name="Freeform 15" id="15"/>
            <p:cNvSpPr/>
            <p:nvPr/>
          </p:nvSpPr>
          <p:spPr>
            <a:xfrm flipH="false" flipV="false" rot="0">
              <a:off x="0" y="0"/>
              <a:ext cx="4583605" cy="3953009"/>
            </a:xfrm>
            <a:custGeom>
              <a:avLst/>
              <a:gdLst/>
              <a:ahLst/>
              <a:cxnLst/>
              <a:rect r="r" b="b" t="t" l="l"/>
              <a:pathLst>
                <a:path h="3953009" w="4583605">
                  <a:moveTo>
                    <a:pt x="0" y="0"/>
                  </a:moveTo>
                  <a:lnTo>
                    <a:pt x="4583605" y="0"/>
                  </a:lnTo>
                  <a:lnTo>
                    <a:pt x="4583605" y="3953009"/>
                  </a:lnTo>
                  <a:lnTo>
                    <a:pt x="0" y="3953009"/>
                  </a:lnTo>
                  <a:close/>
                </a:path>
              </a:pathLst>
            </a:custGeom>
            <a:gradFill rotWithShape="true">
              <a:gsLst>
                <a:gs pos="0">
                  <a:srgbClr val="27DDDF">
                    <a:alpha val="0"/>
                  </a:srgbClr>
                </a:gs>
                <a:gs pos="100000">
                  <a:srgbClr val="27DDDF">
                    <a:alpha val="100000"/>
                  </a:srgbClr>
                </a:gs>
              </a:gsLst>
              <a:lin ang="5400000"/>
            </a:gradFill>
          </p:spPr>
        </p:sp>
        <p:sp>
          <p:nvSpPr>
            <p:cNvPr name="TextBox 16" id="16"/>
            <p:cNvSpPr txBox="true"/>
            <p:nvPr/>
          </p:nvSpPr>
          <p:spPr>
            <a:xfrm>
              <a:off x="0" y="19050"/>
              <a:ext cx="4583605" cy="3933959"/>
            </a:xfrm>
            <a:prstGeom prst="rect">
              <a:avLst/>
            </a:prstGeom>
          </p:spPr>
          <p:txBody>
            <a:bodyPr anchor="ctr" rtlCol="false" tIns="50800" lIns="50800" bIns="50800" rIns="50800"/>
            <a:lstStyle/>
            <a:p>
              <a:pPr algn="ctr" marL="0" indent="0" lvl="0">
                <a:lnSpc>
                  <a:spcPts val="1387"/>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116596" y="720202"/>
            <a:ext cx="415035" cy="755167"/>
          </a:xfrm>
          <a:custGeom>
            <a:avLst/>
            <a:gdLst/>
            <a:ahLst/>
            <a:cxnLst/>
            <a:rect r="r" b="b" t="t" l="l"/>
            <a:pathLst>
              <a:path h="755167" w="415035">
                <a:moveTo>
                  <a:pt x="0" y="0"/>
                </a:moveTo>
                <a:lnTo>
                  <a:pt x="415035" y="0"/>
                </a:lnTo>
                <a:lnTo>
                  <a:pt x="415035" y="755167"/>
                </a:lnTo>
                <a:lnTo>
                  <a:pt x="0" y="755167"/>
                </a:lnTo>
                <a:lnTo>
                  <a:pt x="0" y="0"/>
                </a:lnTo>
                <a:close/>
              </a:path>
            </a:pathLst>
          </a:custGeom>
          <a:blipFill>
            <a:blip r:embed="rId2"/>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054482" y="5598730"/>
            <a:ext cx="7089518" cy="3309700"/>
            <a:chOff x="0" y="0"/>
            <a:chExt cx="1867198" cy="871690"/>
          </a:xfrm>
        </p:grpSpPr>
        <p:sp>
          <p:nvSpPr>
            <p:cNvPr name="Freeform 7" id="7"/>
            <p:cNvSpPr/>
            <p:nvPr/>
          </p:nvSpPr>
          <p:spPr>
            <a:xfrm flipH="false" flipV="false" rot="0">
              <a:off x="0" y="0"/>
              <a:ext cx="1867198" cy="871690"/>
            </a:xfrm>
            <a:custGeom>
              <a:avLst/>
              <a:gdLst/>
              <a:ahLst/>
              <a:cxnLst/>
              <a:rect r="r" b="b" t="t" l="l"/>
              <a:pathLst>
                <a:path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p:spPr>
        </p:sp>
        <p:sp>
          <p:nvSpPr>
            <p:cNvPr name="TextBox 8" id="8"/>
            <p:cNvSpPr txBox="true"/>
            <p:nvPr/>
          </p:nvSpPr>
          <p:spPr>
            <a:xfrm>
              <a:off x="0" y="19050"/>
              <a:ext cx="1867198" cy="852640"/>
            </a:xfrm>
            <a:prstGeom prst="rect">
              <a:avLst/>
            </a:prstGeom>
          </p:spPr>
          <p:txBody>
            <a:bodyPr anchor="ctr" rtlCol="false" tIns="50800" lIns="50800" bIns="50800" rIns="50800"/>
            <a:lstStyle/>
            <a:p>
              <a:pPr algn="ctr" marL="0" indent="0" lvl="0">
                <a:lnSpc>
                  <a:spcPts val="1387"/>
                </a:lnSpc>
              </a:pPr>
            </a:p>
          </p:txBody>
        </p:sp>
      </p:grpSp>
      <p:grpSp>
        <p:nvGrpSpPr>
          <p:cNvPr name="Group 9" id="9"/>
          <p:cNvGrpSpPr/>
          <p:nvPr/>
        </p:nvGrpSpPr>
        <p:grpSpPr>
          <a:xfrm rot="0">
            <a:off x="9439465" y="7136779"/>
            <a:ext cx="6583024" cy="1771650"/>
            <a:chOff x="0" y="0"/>
            <a:chExt cx="1733800" cy="466607"/>
          </a:xfrm>
        </p:grpSpPr>
        <p:sp>
          <p:nvSpPr>
            <p:cNvPr name="Freeform 10" id="10"/>
            <p:cNvSpPr/>
            <p:nvPr/>
          </p:nvSpPr>
          <p:spPr>
            <a:xfrm flipH="false" flipV="false" rot="0">
              <a:off x="0" y="0"/>
              <a:ext cx="1733801" cy="466607"/>
            </a:xfrm>
            <a:custGeom>
              <a:avLst/>
              <a:gdLst/>
              <a:ahLst/>
              <a:cxnLst/>
              <a:rect r="r" b="b" t="t" l="l"/>
              <a:pathLst>
                <a:path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rotWithShape="true">
              <a:gsLst>
                <a:gs pos="0">
                  <a:srgbClr val="0C4A5B">
                    <a:alpha val="100000"/>
                  </a:srgbClr>
                </a:gs>
                <a:gs pos="100000">
                  <a:srgbClr val="27DDDF">
                    <a:alpha val="100000"/>
                  </a:srgbClr>
                </a:gs>
              </a:gsLst>
              <a:lin ang="2700000"/>
            </a:gradFill>
          </p:spPr>
        </p:sp>
        <p:sp>
          <p:nvSpPr>
            <p:cNvPr name="TextBox 11" id="11"/>
            <p:cNvSpPr txBox="true"/>
            <p:nvPr/>
          </p:nvSpPr>
          <p:spPr>
            <a:xfrm>
              <a:off x="0" y="19050"/>
              <a:ext cx="1733800" cy="447557"/>
            </a:xfrm>
            <a:prstGeom prst="rect">
              <a:avLst/>
            </a:prstGeom>
          </p:spPr>
          <p:txBody>
            <a:bodyPr anchor="ctr" rtlCol="false" tIns="50800" lIns="50800" bIns="50800" rIns="50800"/>
            <a:lstStyle/>
            <a:p>
              <a:pPr algn="ctr" marL="0" indent="0" lvl="0">
                <a:lnSpc>
                  <a:spcPts val="1387"/>
                </a:lnSpc>
              </a:pPr>
            </a:p>
          </p:txBody>
        </p:sp>
      </p:grpSp>
      <p:grpSp>
        <p:nvGrpSpPr>
          <p:cNvPr name="Group 12" id="12"/>
          <p:cNvGrpSpPr/>
          <p:nvPr/>
        </p:nvGrpSpPr>
        <p:grpSpPr>
          <a:xfrm rot="0">
            <a:off x="9439465" y="2343150"/>
            <a:ext cx="6583024" cy="4515361"/>
            <a:chOff x="0" y="0"/>
            <a:chExt cx="1733800" cy="1189231"/>
          </a:xfrm>
        </p:grpSpPr>
        <p:sp>
          <p:nvSpPr>
            <p:cNvPr name="Freeform 13" id="13"/>
            <p:cNvSpPr/>
            <p:nvPr/>
          </p:nvSpPr>
          <p:spPr>
            <a:xfrm flipH="false" flipV="false" rot="0">
              <a:off x="0" y="0"/>
              <a:ext cx="1733801" cy="1189231"/>
            </a:xfrm>
            <a:custGeom>
              <a:avLst/>
              <a:gdLst/>
              <a:ahLst/>
              <a:cxnLst/>
              <a:rect r="r" b="b" t="t" l="l"/>
              <a:pathLst>
                <a:path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p:spPr>
        </p:sp>
        <p:sp>
          <p:nvSpPr>
            <p:cNvPr name="TextBox 14" id="14"/>
            <p:cNvSpPr txBox="true"/>
            <p:nvPr/>
          </p:nvSpPr>
          <p:spPr>
            <a:xfrm>
              <a:off x="0" y="19050"/>
              <a:ext cx="1733800" cy="1170181"/>
            </a:xfrm>
            <a:prstGeom prst="rect">
              <a:avLst/>
            </a:prstGeom>
          </p:spPr>
          <p:txBody>
            <a:bodyPr anchor="ctr" rtlCol="false" tIns="50800" lIns="50800" bIns="50800" rIns="50800"/>
            <a:lstStyle/>
            <a:p>
              <a:pPr algn="ctr" marL="0" indent="0" lvl="0">
                <a:lnSpc>
                  <a:spcPts val="1387"/>
                </a:lnSpc>
              </a:pPr>
            </a:p>
          </p:txBody>
        </p:sp>
      </p:grpSp>
      <p:grpSp>
        <p:nvGrpSpPr>
          <p:cNvPr name="Group 15" id="15"/>
          <p:cNvGrpSpPr/>
          <p:nvPr/>
        </p:nvGrpSpPr>
        <p:grpSpPr>
          <a:xfrm rot="0">
            <a:off x="2744875" y="6038363"/>
            <a:ext cx="675884" cy="67588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18" id="18"/>
          <p:cNvSpPr/>
          <p:nvPr/>
        </p:nvSpPr>
        <p:spPr>
          <a:xfrm flipH="false" flipV="false" rot="0">
            <a:off x="2912116" y="6186188"/>
            <a:ext cx="344843" cy="378081"/>
          </a:xfrm>
          <a:custGeom>
            <a:avLst/>
            <a:gdLst/>
            <a:ahLst/>
            <a:cxnLst/>
            <a:rect r="r" b="b" t="t" l="l"/>
            <a:pathLst>
              <a:path h="378081" w="344843">
                <a:moveTo>
                  <a:pt x="0" y="0"/>
                </a:moveTo>
                <a:lnTo>
                  <a:pt x="344843" y="0"/>
                </a:lnTo>
                <a:lnTo>
                  <a:pt x="344843" y="378081"/>
                </a:lnTo>
                <a:lnTo>
                  <a:pt x="0" y="378081"/>
                </a:lnTo>
                <a:lnTo>
                  <a:pt x="0" y="0"/>
                </a:lnTo>
                <a:close/>
              </a:path>
            </a:pathLst>
          </a:custGeom>
          <a:blipFill>
            <a:blip r:embed="rId3"/>
            <a:stretch>
              <a:fillRect l="0" t="0" r="0" b="0"/>
            </a:stretch>
          </a:blipFill>
        </p:spPr>
      </p:sp>
      <p:grpSp>
        <p:nvGrpSpPr>
          <p:cNvPr name="Group 19" id="19"/>
          <p:cNvGrpSpPr/>
          <p:nvPr/>
        </p:nvGrpSpPr>
        <p:grpSpPr>
          <a:xfrm rot="0">
            <a:off x="10179697" y="2826730"/>
            <a:ext cx="675884" cy="67588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sp>
        <p:sp>
          <p:nvSpPr>
            <p:cNvPr name="TextBox 21" id="21"/>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22" id="22"/>
          <p:cNvSpPr/>
          <p:nvPr/>
        </p:nvSpPr>
        <p:spPr>
          <a:xfrm flipH="false" flipV="false" rot="0">
            <a:off x="10271719" y="2948223"/>
            <a:ext cx="526262" cy="455971"/>
          </a:xfrm>
          <a:custGeom>
            <a:avLst/>
            <a:gdLst/>
            <a:ahLst/>
            <a:cxnLst/>
            <a:rect r="r" b="b" t="t" l="l"/>
            <a:pathLst>
              <a:path h="455971" w="526262">
                <a:moveTo>
                  <a:pt x="0" y="0"/>
                </a:moveTo>
                <a:lnTo>
                  <a:pt x="526263" y="0"/>
                </a:lnTo>
                <a:lnTo>
                  <a:pt x="526263" y="455971"/>
                </a:lnTo>
                <a:lnTo>
                  <a:pt x="0" y="455971"/>
                </a:lnTo>
                <a:lnTo>
                  <a:pt x="0" y="0"/>
                </a:lnTo>
                <a:close/>
              </a:path>
            </a:pathLst>
          </a:custGeom>
          <a:blipFill>
            <a:blip r:embed="rId4"/>
            <a:stretch>
              <a:fillRect l="0" t="0" r="0" b="0"/>
            </a:stretch>
          </a:blipFill>
        </p:spPr>
      </p:sp>
      <p:sp>
        <p:nvSpPr>
          <p:cNvPr name="Freeform 23" id="23"/>
          <p:cNvSpPr/>
          <p:nvPr/>
        </p:nvSpPr>
        <p:spPr>
          <a:xfrm flipH="false" flipV="false" rot="0">
            <a:off x="13306560" y="7563216"/>
            <a:ext cx="1789686" cy="1704676"/>
          </a:xfrm>
          <a:custGeom>
            <a:avLst/>
            <a:gdLst/>
            <a:ahLst/>
            <a:cxnLst/>
            <a:rect r="r" b="b" t="t" l="l"/>
            <a:pathLst>
              <a:path h="1704676" w="1789686">
                <a:moveTo>
                  <a:pt x="0" y="0"/>
                </a:moveTo>
                <a:lnTo>
                  <a:pt x="1789686" y="0"/>
                </a:lnTo>
                <a:lnTo>
                  <a:pt x="1789686" y="1704675"/>
                </a:lnTo>
                <a:lnTo>
                  <a:pt x="0" y="1704675"/>
                </a:lnTo>
                <a:lnTo>
                  <a:pt x="0" y="0"/>
                </a:lnTo>
                <a:close/>
              </a:path>
            </a:pathLst>
          </a:custGeom>
          <a:blipFill>
            <a:blip r:embed="rId5"/>
            <a:stretch>
              <a:fillRect l="0" t="0" r="0" b="0"/>
            </a:stretch>
          </a:blipFill>
        </p:spPr>
      </p:sp>
      <p:sp>
        <p:nvSpPr>
          <p:cNvPr name="TextBox 24" id="24"/>
          <p:cNvSpPr txBox="true"/>
          <p:nvPr/>
        </p:nvSpPr>
        <p:spPr>
          <a:xfrm rot="0">
            <a:off x="1795032" y="920927"/>
            <a:ext cx="1302079" cy="265864"/>
          </a:xfrm>
          <a:prstGeom prst="rect">
            <a:avLst/>
          </a:prstGeom>
        </p:spPr>
        <p:txBody>
          <a:bodyPr anchor="t" rtlCol="false" tIns="0" lIns="0" bIns="0" rIns="0">
            <a:spAutoFit/>
          </a:bodyPr>
          <a:lstStyle/>
          <a:p>
            <a:pPr algn="l" marL="0" indent="0" lvl="0">
              <a:lnSpc>
                <a:spcPts val="1654"/>
              </a:lnSpc>
            </a:pPr>
            <a:r>
              <a:rPr lang="en-US" b="true" sz="1880" spc="-30">
                <a:solidFill>
                  <a:srgbClr val="FFFFFF"/>
                </a:solidFill>
                <a:latin typeface="Arial MT Pro Bold"/>
                <a:ea typeface="Arial MT Pro Bold"/>
                <a:cs typeface="Arial MT Pro Bold"/>
                <a:sym typeface="Arial MT Pro Bold"/>
              </a:rPr>
              <a:t>MoviesApp</a:t>
            </a:r>
          </a:p>
        </p:txBody>
      </p:sp>
      <p:sp>
        <p:nvSpPr>
          <p:cNvPr name="TextBox 25" id="25"/>
          <p:cNvSpPr txBox="true"/>
          <p:nvPr/>
        </p:nvSpPr>
        <p:spPr>
          <a:xfrm rot="0">
            <a:off x="13923200" y="920927"/>
            <a:ext cx="300272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EMSI 2025-2026</a:t>
            </a:r>
          </a:p>
        </p:txBody>
      </p:sp>
      <p:sp>
        <p:nvSpPr>
          <p:cNvPr name="TextBox 26" id="26"/>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Architecture</a:t>
            </a:r>
          </a:p>
        </p:txBody>
      </p:sp>
      <p:sp>
        <p:nvSpPr>
          <p:cNvPr name="TextBox 27" id="27"/>
          <p:cNvSpPr txBox="true"/>
          <p:nvPr/>
        </p:nvSpPr>
        <p:spPr>
          <a:xfrm rot="0">
            <a:off x="11721551" y="920927"/>
            <a:ext cx="81197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03/18</a:t>
            </a:r>
          </a:p>
        </p:txBody>
      </p:sp>
      <p:sp>
        <p:nvSpPr>
          <p:cNvPr name="TextBox 28" id="28"/>
          <p:cNvSpPr txBox="true"/>
          <p:nvPr/>
        </p:nvSpPr>
        <p:spPr>
          <a:xfrm rot="0">
            <a:off x="2054482" y="2234275"/>
            <a:ext cx="7089518" cy="2064788"/>
          </a:xfrm>
          <a:prstGeom prst="rect">
            <a:avLst/>
          </a:prstGeom>
        </p:spPr>
        <p:txBody>
          <a:bodyPr anchor="t" rtlCol="false" tIns="0" lIns="0" bIns="0" rIns="0">
            <a:spAutoFit/>
          </a:bodyPr>
          <a:lstStyle/>
          <a:p>
            <a:pPr algn="l" marL="0" indent="0" lvl="0">
              <a:lnSpc>
                <a:spcPts val="7453"/>
              </a:lnSpc>
            </a:pPr>
            <a:r>
              <a:rPr lang="en-US" b="true" sz="7166" spc="-300">
                <a:solidFill>
                  <a:srgbClr val="FFFFFF"/>
                </a:solidFill>
                <a:latin typeface="Arial MT Pro Bold"/>
                <a:ea typeface="Arial MT Pro Bold"/>
                <a:cs typeface="Arial MT Pro Bold"/>
                <a:sym typeface="Arial MT Pro Bold"/>
              </a:rPr>
              <a:t>Solution Proposée</a:t>
            </a:r>
          </a:p>
        </p:txBody>
      </p:sp>
      <p:sp>
        <p:nvSpPr>
          <p:cNvPr name="TextBox 29" id="29"/>
          <p:cNvSpPr txBox="true"/>
          <p:nvPr/>
        </p:nvSpPr>
        <p:spPr>
          <a:xfrm rot="0">
            <a:off x="2744875" y="6980921"/>
            <a:ext cx="873958" cy="291674"/>
          </a:xfrm>
          <a:prstGeom prst="rect">
            <a:avLst/>
          </a:prstGeom>
        </p:spPr>
        <p:txBody>
          <a:bodyPr anchor="t" rtlCol="false" tIns="0" lIns="0" bIns="0" rIns="0">
            <a:spAutoFit/>
          </a:bodyPr>
          <a:lstStyle/>
          <a:p>
            <a:pPr algn="l" marL="0" indent="0" lvl="0">
              <a:lnSpc>
                <a:spcPts val="1862"/>
              </a:lnSpc>
            </a:pPr>
            <a:r>
              <a:rPr lang="en-US" b="true" sz="1791" spc="-75">
                <a:solidFill>
                  <a:srgbClr val="FFFFFF"/>
                </a:solidFill>
                <a:latin typeface="Arial MT Pro Bold"/>
                <a:ea typeface="Arial MT Pro Bold"/>
                <a:cs typeface="Arial MT Pro Bold"/>
                <a:sym typeface="Arial MT Pro Bold"/>
              </a:rPr>
              <a:t>modules</a:t>
            </a:r>
          </a:p>
        </p:txBody>
      </p:sp>
      <p:sp>
        <p:nvSpPr>
          <p:cNvPr name="TextBox 30" id="30"/>
          <p:cNvSpPr txBox="true"/>
          <p:nvPr/>
        </p:nvSpPr>
        <p:spPr>
          <a:xfrm rot="0">
            <a:off x="10179697" y="3770254"/>
            <a:ext cx="1134758" cy="291674"/>
          </a:xfrm>
          <a:prstGeom prst="rect">
            <a:avLst/>
          </a:prstGeom>
        </p:spPr>
        <p:txBody>
          <a:bodyPr anchor="t" rtlCol="false" tIns="0" lIns="0" bIns="0" rIns="0">
            <a:spAutoFit/>
          </a:bodyPr>
          <a:lstStyle/>
          <a:p>
            <a:pPr algn="l" marL="0" indent="0" lvl="0">
              <a:lnSpc>
                <a:spcPts val="1862"/>
              </a:lnSpc>
            </a:pPr>
            <a:r>
              <a:rPr lang="en-US" b="true" sz="1791" spc="-75">
                <a:solidFill>
                  <a:srgbClr val="FFFFFF"/>
                </a:solidFill>
                <a:latin typeface="Arial MT Pro Bold"/>
                <a:ea typeface="Arial MT Pro Bold"/>
                <a:cs typeface="Arial MT Pro Bold"/>
                <a:sym typeface="Arial MT Pro Bold"/>
              </a:rPr>
              <a:t>cloud</a:t>
            </a:r>
          </a:p>
        </p:txBody>
      </p:sp>
      <p:sp>
        <p:nvSpPr>
          <p:cNvPr name="TextBox 31" id="31"/>
          <p:cNvSpPr txBox="true"/>
          <p:nvPr/>
        </p:nvSpPr>
        <p:spPr>
          <a:xfrm rot="0">
            <a:off x="10179697" y="7664425"/>
            <a:ext cx="2851642" cy="307546"/>
          </a:xfrm>
          <a:prstGeom prst="rect">
            <a:avLst/>
          </a:prstGeom>
        </p:spPr>
        <p:txBody>
          <a:bodyPr anchor="t" rtlCol="false" tIns="0" lIns="0" bIns="0" rIns="0">
            <a:spAutoFit/>
          </a:bodyPr>
          <a:lstStyle/>
          <a:p>
            <a:pPr algn="l" marL="0" indent="0" lvl="0">
              <a:lnSpc>
                <a:spcPts val="2090"/>
              </a:lnSpc>
            </a:pPr>
            <a:r>
              <a:rPr lang="en-US" b="true" sz="2010" spc="-84">
                <a:solidFill>
                  <a:srgbClr val="FFFFFF"/>
                </a:solidFill>
                <a:latin typeface="Arial MT Pro Bold"/>
                <a:ea typeface="Arial MT Pro Bold"/>
                <a:cs typeface="Arial MT Pro Bold"/>
                <a:sym typeface="Arial MT Pro Bold"/>
              </a:rPr>
              <a:t>architecture connectée</a:t>
            </a:r>
          </a:p>
        </p:txBody>
      </p:sp>
      <p:sp>
        <p:nvSpPr>
          <p:cNvPr name="TextBox 32" id="32"/>
          <p:cNvSpPr txBox="true"/>
          <p:nvPr/>
        </p:nvSpPr>
        <p:spPr>
          <a:xfrm rot="0">
            <a:off x="2744875" y="7441579"/>
            <a:ext cx="5708731" cy="855340"/>
          </a:xfrm>
          <a:prstGeom prst="rect">
            <a:avLst/>
          </a:prstGeom>
        </p:spPr>
        <p:txBody>
          <a:bodyPr anchor="t" rtlCol="false" tIns="0" lIns="0" bIns="0" rIns="0">
            <a:spAutoFit/>
          </a:bodyPr>
          <a:lstStyle/>
          <a:p>
            <a:pPr algn="l" marL="0" indent="0" lvl="0">
              <a:lnSpc>
                <a:spcPts val="2205"/>
              </a:lnSpc>
              <a:spcBef>
                <a:spcPct val="0"/>
              </a:spcBef>
            </a:pPr>
            <a:r>
              <a:rPr lang="en-US" sz="1575">
                <a:solidFill>
                  <a:srgbClr val="FFFFFF"/>
                </a:solidFill>
                <a:latin typeface="Arial MT Pro"/>
                <a:ea typeface="Arial MT Pro"/>
                <a:cs typeface="Arial MT Pro"/>
                <a:sym typeface="Arial MT Pro"/>
              </a:rPr>
              <a:t>Application Android native avec architecture modulaire intégrant recherche, recommandation et géolocalisation dans une expérience utilisateur unifiée et performante.</a:t>
            </a:r>
          </a:p>
        </p:txBody>
      </p:sp>
      <p:sp>
        <p:nvSpPr>
          <p:cNvPr name="TextBox 33" id="33"/>
          <p:cNvSpPr txBox="true"/>
          <p:nvPr/>
        </p:nvSpPr>
        <p:spPr>
          <a:xfrm rot="0">
            <a:off x="10179697" y="4230913"/>
            <a:ext cx="5102560" cy="1407790"/>
          </a:xfrm>
          <a:prstGeom prst="rect">
            <a:avLst/>
          </a:prstGeom>
        </p:spPr>
        <p:txBody>
          <a:bodyPr anchor="t" rtlCol="false" tIns="0" lIns="0" bIns="0" rIns="0">
            <a:spAutoFit/>
          </a:bodyPr>
          <a:lstStyle/>
          <a:p>
            <a:pPr algn="l" marL="0" indent="0" lvl="0">
              <a:lnSpc>
                <a:spcPts val="2205"/>
              </a:lnSpc>
              <a:spcBef>
                <a:spcPct val="0"/>
              </a:spcBef>
            </a:pPr>
            <a:r>
              <a:rPr lang="en-US" sz="1575">
                <a:solidFill>
                  <a:srgbClr val="FFFFFF"/>
                </a:solidFill>
                <a:latin typeface="Arial MT Pro"/>
                <a:ea typeface="Arial MT Pro"/>
                <a:cs typeface="Arial MT Pro"/>
                <a:sym typeface="Arial MT Pro"/>
              </a:rPr>
              <a:t>Interaction fluide avec Firebase pour l'authentification, TMDB pour les données films, Supabase pour le stockage, et Google Maps pour la géolocalisation des cinémas. Architecture cloud-first garantissant scalabilité et fiabilité.</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96474" y="874658"/>
            <a:ext cx="455657" cy="448593"/>
          </a:xfrm>
          <a:custGeom>
            <a:avLst/>
            <a:gdLst/>
            <a:ahLst/>
            <a:cxnLst/>
            <a:rect r="r" b="b" t="t" l="l"/>
            <a:pathLst>
              <a:path h="448593" w="455657">
                <a:moveTo>
                  <a:pt x="0" y="0"/>
                </a:moveTo>
                <a:lnTo>
                  <a:pt x="455657" y="0"/>
                </a:lnTo>
                <a:lnTo>
                  <a:pt x="455657" y="448593"/>
                </a:lnTo>
                <a:lnTo>
                  <a:pt x="0" y="448593"/>
                </a:lnTo>
                <a:lnTo>
                  <a:pt x="0" y="0"/>
                </a:lnTo>
                <a:close/>
              </a:path>
            </a:pathLst>
          </a:custGeom>
          <a:blipFill>
            <a:blip r:embed="rId2"/>
            <a:stretch>
              <a:fillRect l="0" t="0" r="0" b="0"/>
            </a:stretch>
          </a:blipFill>
        </p:spPr>
      </p:sp>
      <p:sp>
        <p:nvSpPr>
          <p:cNvPr name="TextBox 3" id="3"/>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13923200" y="911402"/>
            <a:ext cx="3002725" cy="173422"/>
          </a:xfrm>
          <a:prstGeom prst="rect">
            <a:avLst/>
          </a:prstGeom>
        </p:spPr>
        <p:txBody>
          <a:bodyPr anchor="t" rtlCol="false" tIns="0" lIns="0" bIns="0" rIns="0">
            <a:spAutoFit/>
          </a:bodyPr>
          <a:lstStyle/>
          <a:p>
            <a:pPr algn="r" marL="0" indent="0" lvl="0">
              <a:lnSpc>
                <a:spcPts val="1073"/>
              </a:lnSpc>
            </a:pPr>
            <a:r>
              <a:rPr lang="en-US" sz="1220">
                <a:solidFill>
                  <a:srgbClr val="FFFFFF"/>
                </a:solidFill>
                <a:latin typeface="Arial MT Pro"/>
                <a:ea typeface="Arial MT Pro"/>
                <a:cs typeface="Arial MT Pro"/>
                <a:sym typeface="Arial MT Pro"/>
              </a:rPr>
              <a:t>@rimsakine</a:t>
            </a:r>
          </a:p>
        </p:txBody>
      </p:sp>
      <p:sp>
        <p:nvSpPr>
          <p:cNvPr name="TextBox 8" id="8"/>
          <p:cNvSpPr txBox="true"/>
          <p:nvPr/>
        </p:nvSpPr>
        <p:spPr>
          <a:xfrm rot="0">
            <a:off x="13179026" y="911402"/>
            <a:ext cx="1136202" cy="173422"/>
          </a:xfrm>
          <a:prstGeom prst="rect">
            <a:avLst/>
          </a:prstGeom>
        </p:spPr>
        <p:txBody>
          <a:bodyPr anchor="t" rtlCol="false" tIns="0" lIns="0" bIns="0" rIns="0">
            <a:spAutoFit/>
          </a:bodyPr>
          <a:lstStyle/>
          <a:p>
            <a:pPr algn="r" marL="0" indent="0" lvl="0">
              <a:lnSpc>
                <a:spcPts val="1073"/>
              </a:lnSpc>
            </a:pPr>
            <a:r>
              <a:rPr lang="en-US" sz="1220">
                <a:solidFill>
                  <a:srgbClr val="FFFFFF"/>
                </a:solidFill>
                <a:latin typeface="Arial MT Pro"/>
                <a:ea typeface="Arial MT Pro"/>
                <a:cs typeface="Arial MT Pro"/>
                <a:sym typeface="Arial MT Pro"/>
              </a:rPr>
              <a:t>EMSI 2025</a:t>
            </a:r>
          </a:p>
        </p:txBody>
      </p:sp>
      <p:sp>
        <p:nvSpPr>
          <p:cNvPr name="TextBox 9" id="9"/>
          <p:cNvSpPr txBox="true"/>
          <p:nvPr/>
        </p:nvSpPr>
        <p:spPr>
          <a:xfrm rot="0">
            <a:off x="11721551" y="911402"/>
            <a:ext cx="811975" cy="173422"/>
          </a:xfrm>
          <a:prstGeom prst="rect">
            <a:avLst/>
          </a:prstGeom>
        </p:spPr>
        <p:txBody>
          <a:bodyPr anchor="t" rtlCol="false" tIns="0" lIns="0" bIns="0" rIns="0">
            <a:spAutoFit/>
          </a:bodyPr>
          <a:lstStyle/>
          <a:p>
            <a:pPr algn="r" marL="0" indent="0" lvl="0">
              <a:lnSpc>
                <a:spcPts val="1073"/>
              </a:lnSpc>
            </a:pPr>
            <a:r>
              <a:rPr lang="en-US" sz="1220">
                <a:solidFill>
                  <a:srgbClr val="FFFFFF"/>
                </a:solidFill>
                <a:latin typeface="Arial MT Pro"/>
                <a:ea typeface="Arial MT Pro"/>
                <a:cs typeface="Arial MT Pro"/>
                <a:sym typeface="Arial MT Pro"/>
              </a:rPr>
              <a:t>5/18</a:t>
            </a:r>
          </a:p>
        </p:txBody>
      </p:sp>
      <p:grpSp>
        <p:nvGrpSpPr>
          <p:cNvPr name="Group 10" id="10"/>
          <p:cNvGrpSpPr/>
          <p:nvPr/>
        </p:nvGrpSpPr>
        <p:grpSpPr>
          <a:xfrm rot="0">
            <a:off x="2054482" y="2277799"/>
            <a:ext cx="8679644" cy="6630631"/>
            <a:chOff x="0" y="0"/>
            <a:chExt cx="2143421" cy="1637421"/>
          </a:xfrm>
        </p:grpSpPr>
        <p:sp>
          <p:nvSpPr>
            <p:cNvPr name="Freeform 11" id="11"/>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3"/>
              <a:stretch>
                <a:fillRect l="-1184" t="0" r="-1184" b="0"/>
              </a:stretch>
            </a:blipFill>
          </p:spPr>
        </p:sp>
      </p:grpSp>
      <p:grpSp>
        <p:nvGrpSpPr>
          <p:cNvPr name="Group 12" id="12"/>
          <p:cNvGrpSpPr/>
          <p:nvPr/>
        </p:nvGrpSpPr>
        <p:grpSpPr>
          <a:xfrm rot="0">
            <a:off x="2054482" y="4580882"/>
            <a:ext cx="8679644" cy="4327547"/>
            <a:chOff x="0" y="0"/>
            <a:chExt cx="2285997" cy="1139766"/>
          </a:xfrm>
        </p:grpSpPr>
        <p:sp>
          <p:nvSpPr>
            <p:cNvPr name="Freeform 13" id="13"/>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14" id="14"/>
            <p:cNvSpPr txBox="true"/>
            <p:nvPr/>
          </p:nvSpPr>
          <p:spPr>
            <a:xfrm>
              <a:off x="0" y="19050"/>
              <a:ext cx="2285997" cy="1120716"/>
            </a:xfrm>
            <a:prstGeom prst="rect">
              <a:avLst/>
            </a:prstGeom>
          </p:spPr>
          <p:txBody>
            <a:bodyPr anchor="ctr" rtlCol="false" tIns="50800" lIns="50800" bIns="50800" rIns="50800"/>
            <a:lstStyle/>
            <a:p>
              <a:pPr algn="ctr" marL="0" indent="0" lvl="0">
                <a:lnSpc>
                  <a:spcPts val="1387"/>
                </a:lnSpc>
              </a:pPr>
            </a:p>
          </p:txBody>
        </p:sp>
      </p:grpSp>
      <p:sp>
        <p:nvSpPr>
          <p:cNvPr name="TextBox 15" id="15"/>
          <p:cNvSpPr txBox="true"/>
          <p:nvPr/>
        </p:nvSpPr>
        <p:spPr>
          <a:xfrm rot="0">
            <a:off x="2811474" y="6716081"/>
            <a:ext cx="5036482" cy="1470845"/>
          </a:xfrm>
          <a:prstGeom prst="rect">
            <a:avLst/>
          </a:prstGeom>
        </p:spPr>
        <p:txBody>
          <a:bodyPr anchor="t" rtlCol="false" tIns="0" lIns="0" bIns="0" rIns="0">
            <a:spAutoFit/>
          </a:bodyPr>
          <a:lstStyle/>
          <a:p>
            <a:pPr algn="l" marL="0" indent="0" lvl="0">
              <a:lnSpc>
                <a:spcPts val="5294"/>
              </a:lnSpc>
            </a:pPr>
            <a:r>
              <a:rPr lang="en-US" b="true" sz="5090" spc="-213">
                <a:solidFill>
                  <a:srgbClr val="FFFFFF"/>
                </a:solidFill>
                <a:latin typeface="Arial MT Pro Bold"/>
                <a:ea typeface="Arial MT Pro Bold"/>
                <a:cs typeface="Arial MT Pro Bold"/>
                <a:sym typeface="Arial MT Pro Bold"/>
              </a:rPr>
              <a:t>Besoins Fonctionnels </a:t>
            </a:r>
          </a:p>
        </p:txBody>
      </p:sp>
      <p:sp>
        <p:nvSpPr>
          <p:cNvPr name="TextBox 16" id="16"/>
          <p:cNvSpPr txBox="true"/>
          <p:nvPr/>
        </p:nvSpPr>
        <p:spPr>
          <a:xfrm rot="0">
            <a:off x="11477408" y="2201599"/>
            <a:ext cx="4545081" cy="730129"/>
          </a:xfrm>
          <a:prstGeom prst="rect">
            <a:avLst/>
          </a:prstGeom>
        </p:spPr>
        <p:txBody>
          <a:bodyPr anchor="t" rtlCol="false" tIns="0" lIns="0" bIns="0" rIns="0">
            <a:spAutoFit/>
          </a:bodyPr>
          <a:lstStyle/>
          <a:p>
            <a:pPr algn="l" marL="0" indent="0" lvl="0">
              <a:lnSpc>
                <a:spcPts val="1940"/>
              </a:lnSpc>
            </a:pPr>
            <a:r>
              <a:rPr lang="en-US" sz="1220">
                <a:solidFill>
                  <a:srgbClr val="FFFFFF"/>
                </a:solidFill>
                <a:latin typeface="Arial MT Pro"/>
                <a:ea typeface="Arial MT Pro"/>
                <a:cs typeface="Arial MT Pro"/>
                <a:sym typeface="Arial MT Pro"/>
              </a:rPr>
              <a:t>Présentation des premiers besoins fonctionnels majeurs qui définissent les fonctionnalités essentielles de l'application MoviesApp.</a:t>
            </a:r>
          </a:p>
        </p:txBody>
      </p:sp>
      <p:grpSp>
        <p:nvGrpSpPr>
          <p:cNvPr name="Group 17" id="17"/>
          <p:cNvGrpSpPr/>
          <p:nvPr/>
        </p:nvGrpSpPr>
        <p:grpSpPr>
          <a:xfrm rot="0">
            <a:off x="11477408" y="3875664"/>
            <a:ext cx="4545081" cy="1509786"/>
            <a:chOff x="0" y="0"/>
            <a:chExt cx="1185649" cy="393849"/>
          </a:xfrm>
        </p:grpSpPr>
        <p:sp>
          <p:nvSpPr>
            <p:cNvPr name="Freeform 18" id="18"/>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19" id="19"/>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grpSp>
        <p:nvGrpSpPr>
          <p:cNvPr name="Group 20" id="20"/>
          <p:cNvGrpSpPr/>
          <p:nvPr/>
        </p:nvGrpSpPr>
        <p:grpSpPr>
          <a:xfrm rot="0">
            <a:off x="11477408" y="5631234"/>
            <a:ext cx="4545081" cy="1509786"/>
            <a:chOff x="0" y="0"/>
            <a:chExt cx="1185649" cy="393849"/>
          </a:xfrm>
        </p:grpSpPr>
        <p:sp>
          <p:nvSpPr>
            <p:cNvPr name="Freeform 21" id="21"/>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2" id="22"/>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3" id="23"/>
          <p:cNvSpPr txBox="true"/>
          <p:nvPr/>
        </p:nvSpPr>
        <p:spPr>
          <a:xfrm rot="0">
            <a:off x="11963670" y="4140157"/>
            <a:ext cx="3572557" cy="730129"/>
          </a:xfrm>
          <a:prstGeom prst="rect">
            <a:avLst/>
          </a:prstGeom>
        </p:spPr>
        <p:txBody>
          <a:bodyPr anchor="t" rtlCol="false" tIns="0" lIns="0" bIns="0" rIns="0">
            <a:spAutoFit/>
          </a:bodyPr>
          <a:lstStyle/>
          <a:p>
            <a:pPr algn="l" marL="0" indent="0" lvl="0">
              <a:lnSpc>
                <a:spcPts val="1940"/>
              </a:lnSpc>
            </a:pPr>
            <a:r>
              <a:rPr lang="en-US" sz="1220">
                <a:solidFill>
                  <a:srgbClr val="FFFFFF"/>
                </a:solidFill>
                <a:latin typeface="Arial MT Pro"/>
                <a:ea typeface="Arial MT Pro"/>
                <a:cs typeface="Arial MT Pro"/>
                <a:sym typeface="Arial MT Pro"/>
              </a:rPr>
              <a:t>BF01 : Authentification Sécurisée</a:t>
            </a:r>
          </a:p>
          <a:p>
            <a:pPr algn="l" marL="0" indent="0" lvl="0">
              <a:lnSpc>
                <a:spcPts val="1940"/>
              </a:lnSpc>
            </a:pPr>
            <a:r>
              <a:rPr lang="en-US" sz="1220">
                <a:solidFill>
                  <a:srgbClr val="FFFFFF"/>
                </a:solidFill>
                <a:latin typeface="Arial MT Pro"/>
                <a:ea typeface="Arial MT Pro"/>
                <a:cs typeface="Arial MT Pro"/>
                <a:sym typeface="Arial MT Pro"/>
              </a:rPr>
              <a:t>Connexion et inscription via Firebase Authentication avec gestion sécurisée des sessions.</a:t>
            </a:r>
          </a:p>
        </p:txBody>
      </p:sp>
      <p:sp>
        <p:nvSpPr>
          <p:cNvPr name="TextBox 24" id="24"/>
          <p:cNvSpPr txBox="true"/>
          <p:nvPr/>
        </p:nvSpPr>
        <p:spPr>
          <a:xfrm rot="0">
            <a:off x="11963670" y="5877476"/>
            <a:ext cx="3572557" cy="730129"/>
          </a:xfrm>
          <a:prstGeom prst="rect">
            <a:avLst/>
          </a:prstGeom>
        </p:spPr>
        <p:txBody>
          <a:bodyPr anchor="t" rtlCol="false" tIns="0" lIns="0" bIns="0" rIns="0">
            <a:spAutoFit/>
          </a:bodyPr>
          <a:lstStyle/>
          <a:p>
            <a:pPr algn="l" marL="0" indent="0" lvl="0">
              <a:lnSpc>
                <a:spcPts val="1940"/>
              </a:lnSpc>
            </a:pPr>
            <a:r>
              <a:rPr lang="en-US" sz="1220">
                <a:solidFill>
                  <a:srgbClr val="FFFFFF"/>
                </a:solidFill>
                <a:latin typeface="Arial MT Pro"/>
                <a:ea typeface="Arial MT Pro"/>
                <a:cs typeface="Arial MT Pro"/>
                <a:sym typeface="Arial MT Pro"/>
              </a:rPr>
              <a:t>BF02 : Consultation des Films</a:t>
            </a:r>
          </a:p>
          <a:p>
            <a:pPr algn="l" marL="0" indent="0" lvl="0">
              <a:lnSpc>
                <a:spcPts val="1940"/>
              </a:lnSpc>
            </a:pPr>
            <a:r>
              <a:rPr lang="en-US" sz="1220">
                <a:solidFill>
                  <a:srgbClr val="FFFFFF"/>
                </a:solidFill>
                <a:latin typeface="Arial MT Pro"/>
                <a:ea typeface="Arial MT Pro"/>
                <a:cs typeface="Arial MT Pro"/>
                <a:sym typeface="Arial MT Pro"/>
              </a:rPr>
              <a:t>Navigation fluide dans le catalogue avec affichage des films populaires, récents et par catégories.</a:t>
            </a:r>
          </a:p>
        </p:txBody>
      </p:sp>
      <p:grpSp>
        <p:nvGrpSpPr>
          <p:cNvPr name="Group 25" id="25"/>
          <p:cNvGrpSpPr/>
          <p:nvPr/>
        </p:nvGrpSpPr>
        <p:grpSpPr>
          <a:xfrm rot="0">
            <a:off x="11477408" y="7386803"/>
            <a:ext cx="4545081" cy="1509786"/>
            <a:chOff x="0" y="0"/>
            <a:chExt cx="1185649" cy="393849"/>
          </a:xfrm>
        </p:grpSpPr>
        <p:sp>
          <p:nvSpPr>
            <p:cNvPr name="Freeform 26" id="26"/>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7" id="27"/>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8" id="28"/>
          <p:cNvSpPr txBox="true"/>
          <p:nvPr/>
        </p:nvSpPr>
        <p:spPr>
          <a:xfrm rot="0">
            <a:off x="11963670" y="7673968"/>
            <a:ext cx="3572557" cy="730129"/>
          </a:xfrm>
          <a:prstGeom prst="rect">
            <a:avLst/>
          </a:prstGeom>
        </p:spPr>
        <p:txBody>
          <a:bodyPr anchor="t" rtlCol="false" tIns="0" lIns="0" bIns="0" rIns="0">
            <a:spAutoFit/>
          </a:bodyPr>
          <a:lstStyle/>
          <a:p>
            <a:pPr algn="l" marL="0" indent="0" lvl="0">
              <a:lnSpc>
                <a:spcPts val="1940"/>
              </a:lnSpc>
            </a:pPr>
            <a:r>
              <a:rPr lang="en-US" sz="1220">
                <a:solidFill>
                  <a:srgbClr val="FFFFFF"/>
                </a:solidFill>
                <a:latin typeface="Arial MT Pro"/>
                <a:ea typeface="Arial MT Pro"/>
                <a:cs typeface="Arial MT Pro"/>
                <a:sym typeface="Arial MT Pro"/>
              </a:rPr>
              <a:t>BF03 : Recherche Avancée</a:t>
            </a:r>
          </a:p>
          <a:p>
            <a:pPr algn="l" marL="0" indent="0" lvl="0">
              <a:lnSpc>
                <a:spcPts val="1940"/>
              </a:lnSpc>
            </a:pPr>
            <a:r>
              <a:rPr lang="en-US" sz="1220">
                <a:solidFill>
                  <a:srgbClr val="FFFFFF"/>
                </a:solidFill>
                <a:latin typeface="Arial MT Pro"/>
                <a:ea typeface="Arial MT Pro"/>
                <a:cs typeface="Arial MT Pro"/>
                <a:sym typeface="Arial MT Pro"/>
              </a:rPr>
              <a:t>Recherche par texte et commande vocale pour trouver rapidement les films souhaités.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80313" y="801325"/>
            <a:ext cx="499539" cy="511377"/>
          </a:xfrm>
          <a:custGeom>
            <a:avLst/>
            <a:gdLst/>
            <a:ahLst/>
            <a:cxnLst/>
            <a:rect r="r" b="b" t="t" l="l"/>
            <a:pathLst>
              <a:path h="511377" w="499539">
                <a:moveTo>
                  <a:pt x="0" y="0"/>
                </a:moveTo>
                <a:lnTo>
                  <a:pt x="499539" y="0"/>
                </a:lnTo>
                <a:lnTo>
                  <a:pt x="499539" y="511376"/>
                </a:lnTo>
                <a:lnTo>
                  <a:pt x="0" y="511376"/>
                </a:lnTo>
                <a:lnTo>
                  <a:pt x="0" y="0"/>
                </a:lnTo>
                <a:close/>
              </a:path>
            </a:pathLst>
          </a:custGeom>
          <a:blipFill>
            <a:blip r:embed="rId2"/>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7142333" y="4220502"/>
            <a:ext cx="4003334" cy="562565"/>
            <a:chOff x="0" y="0"/>
            <a:chExt cx="2892032" cy="406400"/>
          </a:xfrm>
        </p:grpSpPr>
        <p:sp>
          <p:nvSpPr>
            <p:cNvPr name="Freeform 7" id="7"/>
            <p:cNvSpPr/>
            <p:nvPr/>
          </p:nvSpPr>
          <p:spPr>
            <a:xfrm flipH="false" flipV="false" rot="0">
              <a:off x="0" y="0"/>
              <a:ext cx="2892032" cy="406400"/>
            </a:xfrm>
            <a:custGeom>
              <a:avLst/>
              <a:gdLst/>
              <a:ahLst/>
              <a:cxnLst/>
              <a:rect r="r" b="b" t="t" l="l"/>
              <a:pathLst>
                <a:path h="406400" w="2892032">
                  <a:moveTo>
                    <a:pt x="2688832" y="0"/>
                  </a:moveTo>
                  <a:cubicBezTo>
                    <a:pt x="2801057" y="0"/>
                    <a:pt x="2892032" y="90976"/>
                    <a:pt x="2892032" y="203200"/>
                  </a:cubicBezTo>
                  <a:cubicBezTo>
                    <a:pt x="2892032" y="315424"/>
                    <a:pt x="2801057" y="406400"/>
                    <a:pt x="2688832"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8" id="8"/>
            <p:cNvSpPr txBox="true"/>
            <p:nvPr/>
          </p:nvSpPr>
          <p:spPr>
            <a:xfrm>
              <a:off x="0" y="-38100"/>
              <a:ext cx="2892032"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0" y="7724775"/>
            <a:ext cx="18288000" cy="6686550"/>
            <a:chOff x="0" y="0"/>
            <a:chExt cx="4816593" cy="1761067"/>
          </a:xfrm>
        </p:grpSpPr>
        <p:sp>
          <p:nvSpPr>
            <p:cNvPr name="Freeform 10" id="10"/>
            <p:cNvSpPr/>
            <p:nvPr/>
          </p:nvSpPr>
          <p:spPr>
            <a:xfrm flipH="false" flipV="false" rot="0">
              <a:off x="0" y="0"/>
              <a:ext cx="4816592" cy="1761067"/>
            </a:xfrm>
            <a:custGeom>
              <a:avLst/>
              <a:gdLst/>
              <a:ahLst/>
              <a:cxnLst/>
              <a:rect r="r" b="b" t="t" l="l"/>
              <a:pathLst>
                <a:path h="1761067" w="4816592">
                  <a:moveTo>
                    <a:pt x="0" y="0"/>
                  </a:moveTo>
                  <a:lnTo>
                    <a:pt x="4816592" y="0"/>
                  </a:lnTo>
                  <a:lnTo>
                    <a:pt x="4816592" y="1761067"/>
                  </a:lnTo>
                  <a:lnTo>
                    <a:pt x="0" y="1761067"/>
                  </a:lnTo>
                  <a:close/>
                </a:path>
              </a:pathLst>
            </a:custGeom>
            <a:gradFill rotWithShape="true">
              <a:gsLst>
                <a:gs pos="0">
                  <a:srgbClr val="2D2E34">
                    <a:alpha val="0"/>
                  </a:srgbClr>
                </a:gs>
                <a:gs pos="100000">
                  <a:srgbClr val="2D2E34">
                    <a:alpha val="100000"/>
                  </a:srgbClr>
                </a:gs>
              </a:gsLst>
              <a:lin ang="5400000"/>
            </a:gradFill>
          </p:spPr>
        </p:sp>
        <p:sp>
          <p:nvSpPr>
            <p:cNvPr name="TextBox 11" id="11"/>
            <p:cNvSpPr txBox="true"/>
            <p:nvPr/>
          </p:nvSpPr>
          <p:spPr>
            <a:xfrm>
              <a:off x="0" y="19050"/>
              <a:ext cx="4816593" cy="1742017"/>
            </a:xfrm>
            <a:prstGeom prst="rect">
              <a:avLst/>
            </a:prstGeom>
          </p:spPr>
          <p:txBody>
            <a:bodyPr anchor="ctr" rtlCol="false" tIns="50800" lIns="50800" bIns="50800" rIns="50800"/>
            <a:lstStyle/>
            <a:p>
              <a:pPr algn="ctr" marL="0" indent="0" lvl="0">
                <a:lnSpc>
                  <a:spcPts val="1387"/>
                </a:lnSpc>
              </a:pPr>
            </a:p>
          </p:txBody>
        </p:sp>
      </p:grpSp>
      <p:grpSp>
        <p:nvGrpSpPr>
          <p:cNvPr name="Group 12" id="12"/>
          <p:cNvGrpSpPr/>
          <p:nvPr/>
        </p:nvGrpSpPr>
        <p:grpSpPr>
          <a:xfrm rot="0">
            <a:off x="2054482" y="5463887"/>
            <a:ext cx="2546867" cy="3444543"/>
            <a:chOff x="0" y="0"/>
            <a:chExt cx="670780" cy="907205"/>
          </a:xfrm>
        </p:grpSpPr>
        <p:sp>
          <p:nvSpPr>
            <p:cNvPr name="Freeform 13" id="13"/>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14" id="14"/>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15" id="15"/>
          <p:cNvGrpSpPr/>
          <p:nvPr/>
        </p:nvGrpSpPr>
        <p:grpSpPr>
          <a:xfrm rot="0">
            <a:off x="4911865" y="5463887"/>
            <a:ext cx="2546867" cy="3444543"/>
            <a:chOff x="0" y="0"/>
            <a:chExt cx="670780" cy="907205"/>
          </a:xfrm>
        </p:grpSpPr>
        <p:sp>
          <p:nvSpPr>
            <p:cNvPr name="Freeform 16" id="16"/>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17" id="17"/>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18" id="18"/>
          <p:cNvGrpSpPr/>
          <p:nvPr/>
        </p:nvGrpSpPr>
        <p:grpSpPr>
          <a:xfrm rot="0">
            <a:off x="7766450" y="5463887"/>
            <a:ext cx="2546867" cy="3444543"/>
            <a:chOff x="0" y="0"/>
            <a:chExt cx="670780" cy="907205"/>
          </a:xfrm>
        </p:grpSpPr>
        <p:sp>
          <p:nvSpPr>
            <p:cNvPr name="Freeform 19" id="19"/>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20" id="20"/>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21" id="21"/>
          <p:cNvGrpSpPr/>
          <p:nvPr/>
        </p:nvGrpSpPr>
        <p:grpSpPr>
          <a:xfrm rot="0">
            <a:off x="10621036" y="5463887"/>
            <a:ext cx="2546867" cy="3444543"/>
            <a:chOff x="0" y="0"/>
            <a:chExt cx="670780" cy="907205"/>
          </a:xfrm>
        </p:grpSpPr>
        <p:sp>
          <p:nvSpPr>
            <p:cNvPr name="Freeform 22" id="22"/>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23" id="23"/>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24" id="24"/>
          <p:cNvGrpSpPr/>
          <p:nvPr/>
        </p:nvGrpSpPr>
        <p:grpSpPr>
          <a:xfrm rot="0">
            <a:off x="13475621" y="5463887"/>
            <a:ext cx="2546867" cy="3444543"/>
            <a:chOff x="0" y="0"/>
            <a:chExt cx="670780" cy="907205"/>
          </a:xfrm>
        </p:grpSpPr>
        <p:sp>
          <p:nvSpPr>
            <p:cNvPr name="Freeform 25" id="25"/>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26" id="26"/>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27" id="27"/>
          <p:cNvGrpSpPr/>
          <p:nvPr/>
        </p:nvGrpSpPr>
        <p:grpSpPr>
          <a:xfrm rot="0">
            <a:off x="6719937" y="8230201"/>
            <a:ext cx="422397" cy="42239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29" id="29"/>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grpSp>
        <p:nvGrpSpPr>
          <p:cNvPr name="Group 30" id="30"/>
          <p:cNvGrpSpPr/>
          <p:nvPr/>
        </p:nvGrpSpPr>
        <p:grpSpPr>
          <a:xfrm rot="0">
            <a:off x="3860818" y="8230201"/>
            <a:ext cx="422397" cy="42239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2" id="32"/>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grpSp>
        <p:nvGrpSpPr>
          <p:cNvPr name="Group 33" id="33"/>
          <p:cNvGrpSpPr/>
          <p:nvPr/>
        </p:nvGrpSpPr>
        <p:grpSpPr>
          <a:xfrm rot="0">
            <a:off x="9573282" y="8230201"/>
            <a:ext cx="422397" cy="42239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35" id="35"/>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36" id="36"/>
          <p:cNvSpPr/>
          <p:nvPr/>
        </p:nvSpPr>
        <p:spPr>
          <a:xfrm flipH="false" flipV="false" rot="-5400000">
            <a:off x="10548609" y="4425681"/>
            <a:ext cx="284742" cy="152208"/>
          </a:xfrm>
          <a:custGeom>
            <a:avLst/>
            <a:gdLst/>
            <a:ahLst/>
            <a:cxnLst/>
            <a:rect r="r" b="b" t="t" l="l"/>
            <a:pathLst>
              <a:path h="152208" w="284742">
                <a:moveTo>
                  <a:pt x="0" y="0"/>
                </a:moveTo>
                <a:lnTo>
                  <a:pt x="284742" y="0"/>
                </a:lnTo>
                <a:lnTo>
                  <a:pt x="284742" y="152207"/>
                </a:lnTo>
                <a:lnTo>
                  <a:pt x="0" y="1522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7" id="37"/>
          <p:cNvSpPr/>
          <p:nvPr/>
        </p:nvSpPr>
        <p:spPr>
          <a:xfrm flipH="false" flipV="false" rot="-5400000">
            <a:off x="6842841"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8" id="38"/>
          <p:cNvSpPr/>
          <p:nvPr/>
        </p:nvSpPr>
        <p:spPr>
          <a:xfrm flipH="false" flipV="false" rot="-5400000">
            <a:off x="3983723"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9" id="39"/>
          <p:cNvSpPr/>
          <p:nvPr/>
        </p:nvSpPr>
        <p:spPr>
          <a:xfrm flipH="false" flipV="false" rot="-5400000">
            <a:off x="9696187"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0" id="40"/>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41" id="41"/>
          <p:cNvSpPr txBox="true"/>
          <p:nvPr/>
        </p:nvSpPr>
        <p:spPr>
          <a:xfrm rot="0">
            <a:off x="13923200" y="920927"/>
            <a:ext cx="300272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@EMSI2025</a:t>
            </a:r>
          </a:p>
        </p:txBody>
      </p:sp>
      <p:sp>
        <p:nvSpPr>
          <p:cNvPr name="TextBox 42" id="42"/>
          <p:cNvSpPr txBox="true"/>
          <p:nvPr/>
        </p:nvSpPr>
        <p:spPr>
          <a:xfrm rot="0">
            <a:off x="7571841" y="4409029"/>
            <a:ext cx="2918099" cy="255780"/>
          </a:xfrm>
          <a:prstGeom prst="rect">
            <a:avLst/>
          </a:prstGeom>
        </p:spPr>
        <p:txBody>
          <a:bodyPr anchor="t" rtlCol="false" tIns="0" lIns="0" bIns="0" rIns="0">
            <a:spAutoFit/>
          </a:bodyPr>
          <a:lstStyle/>
          <a:p>
            <a:pPr algn="l" marL="0" indent="0" lvl="0">
              <a:lnSpc>
                <a:spcPts val="1619"/>
              </a:lnSpc>
            </a:pPr>
            <a:r>
              <a:rPr lang="en-US" sz="1840">
                <a:solidFill>
                  <a:srgbClr val="FFFFFF"/>
                </a:solidFill>
                <a:latin typeface="Arial MT Pro"/>
                <a:ea typeface="Arial MT Pro"/>
                <a:cs typeface="Arial MT Pro"/>
                <a:sym typeface="Arial MT Pro"/>
              </a:rPr>
              <a:t>Besoins Fonctionnels (2/2)</a:t>
            </a:r>
          </a:p>
        </p:txBody>
      </p:sp>
      <p:sp>
        <p:nvSpPr>
          <p:cNvPr name="TextBox 43" id="43"/>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À propos</a:t>
            </a:r>
          </a:p>
        </p:txBody>
      </p:sp>
      <p:sp>
        <p:nvSpPr>
          <p:cNvPr name="TextBox 44" id="44"/>
          <p:cNvSpPr txBox="true"/>
          <p:nvPr/>
        </p:nvSpPr>
        <p:spPr>
          <a:xfrm rot="0">
            <a:off x="11721551" y="920927"/>
            <a:ext cx="81197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Menu</a:t>
            </a:r>
          </a:p>
        </p:txBody>
      </p:sp>
      <p:sp>
        <p:nvSpPr>
          <p:cNvPr name="TextBox 45" id="45"/>
          <p:cNvSpPr txBox="true"/>
          <p:nvPr/>
        </p:nvSpPr>
        <p:spPr>
          <a:xfrm rot="0">
            <a:off x="4540873" y="2567956"/>
            <a:ext cx="9206253" cy="930108"/>
          </a:xfrm>
          <a:prstGeom prst="rect">
            <a:avLst/>
          </a:prstGeom>
        </p:spPr>
        <p:txBody>
          <a:bodyPr anchor="t" rtlCol="false" tIns="0" lIns="0" bIns="0" rIns="0">
            <a:spAutoFit/>
          </a:bodyPr>
          <a:lstStyle/>
          <a:p>
            <a:pPr algn="ctr" marL="0" indent="0" lvl="0">
              <a:lnSpc>
                <a:spcPts val="2441"/>
              </a:lnSpc>
            </a:pPr>
            <a:r>
              <a:rPr lang="en-US" sz="1575">
                <a:solidFill>
                  <a:srgbClr val="FFFFFF"/>
                </a:solidFill>
                <a:latin typeface="Arial MT Pro"/>
                <a:ea typeface="Arial MT Pro"/>
                <a:cs typeface="Arial MT Pro"/>
                <a:sym typeface="Arial MT Pro"/>
              </a:rPr>
              <a:t>Suite des fonctionnalités essentielles de MoviesApp pour une expérience utilisateur complète. Ces modules avancés permettent d'enrichir l'interaction avec l'application grâce à des informations détaillées, la personnalisation et l'intelligence artificielle intégrée.</a:t>
            </a:r>
          </a:p>
        </p:txBody>
      </p:sp>
      <p:sp>
        <p:nvSpPr>
          <p:cNvPr name="TextBox 46" id="46"/>
          <p:cNvSpPr txBox="true"/>
          <p:nvPr/>
        </p:nvSpPr>
        <p:spPr>
          <a:xfrm rot="0">
            <a:off x="2446072" y="6003427"/>
            <a:ext cx="1520815" cy="829221"/>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BF04 : Détails Complets Films</a:t>
            </a:r>
          </a:p>
        </p:txBody>
      </p:sp>
      <p:sp>
        <p:nvSpPr>
          <p:cNvPr name="TextBox 47" id="47"/>
          <p:cNvSpPr txBox="true"/>
          <p:nvPr/>
        </p:nvSpPr>
        <p:spPr>
          <a:xfrm rot="0">
            <a:off x="5303454" y="6003427"/>
            <a:ext cx="1758146" cy="569407"/>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BF05 : Gestion des Favoris</a:t>
            </a:r>
          </a:p>
        </p:txBody>
      </p:sp>
      <p:sp>
        <p:nvSpPr>
          <p:cNvPr name="TextBox 48" id="48"/>
          <p:cNvSpPr txBox="true"/>
          <p:nvPr/>
        </p:nvSpPr>
        <p:spPr>
          <a:xfrm rot="0">
            <a:off x="8160837" y="6003427"/>
            <a:ext cx="1878002" cy="569407"/>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BF06 : Profil Utilisateur</a:t>
            </a:r>
          </a:p>
        </p:txBody>
      </p:sp>
      <p:sp>
        <p:nvSpPr>
          <p:cNvPr name="TextBox 49" id="49"/>
          <p:cNvSpPr txBox="true"/>
          <p:nvPr/>
        </p:nvSpPr>
        <p:spPr>
          <a:xfrm rot="0">
            <a:off x="11018220" y="6003427"/>
            <a:ext cx="1747034" cy="569407"/>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BF07 : Chatbot CineBot</a:t>
            </a:r>
          </a:p>
        </p:txBody>
      </p:sp>
      <p:sp>
        <p:nvSpPr>
          <p:cNvPr name="TextBox 50" id="50"/>
          <p:cNvSpPr txBox="true"/>
          <p:nvPr/>
        </p:nvSpPr>
        <p:spPr>
          <a:xfrm rot="0">
            <a:off x="13875602" y="6003427"/>
            <a:ext cx="1520815" cy="1089034"/>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BF08 : Géoloca-</a:t>
            </a:r>
          </a:p>
          <a:p>
            <a:pPr algn="l" marL="0" indent="0" lvl="0">
              <a:lnSpc>
                <a:spcPts val="2060"/>
              </a:lnSpc>
            </a:pPr>
            <a:r>
              <a:rPr lang="en-US" b="true" sz="1981" spc="-83">
                <a:solidFill>
                  <a:srgbClr val="FFFFFF"/>
                </a:solidFill>
                <a:latin typeface="Arial MT Pro Bold"/>
                <a:ea typeface="Arial MT Pro Bold"/>
                <a:cs typeface="Arial MT Pro Bold"/>
                <a:sym typeface="Arial MT Pro Bold"/>
              </a:rPr>
              <a:t>lisation Cinémas</a:t>
            </a:r>
          </a:p>
        </p:txBody>
      </p:sp>
      <p:grpSp>
        <p:nvGrpSpPr>
          <p:cNvPr name="Group 51" id="51"/>
          <p:cNvGrpSpPr/>
          <p:nvPr/>
        </p:nvGrpSpPr>
        <p:grpSpPr>
          <a:xfrm rot="0">
            <a:off x="12426627" y="8230201"/>
            <a:ext cx="422397" cy="422397"/>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53" id="53"/>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54" id="54"/>
          <p:cNvSpPr/>
          <p:nvPr/>
        </p:nvSpPr>
        <p:spPr>
          <a:xfrm flipH="false" flipV="false" rot="-5400000">
            <a:off x="12549532"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5" id="55"/>
          <p:cNvGrpSpPr/>
          <p:nvPr/>
        </p:nvGrpSpPr>
        <p:grpSpPr>
          <a:xfrm rot="0">
            <a:off x="15279973" y="8230201"/>
            <a:ext cx="422397" cy="422397"/>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57" id="57"/>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58" id="58"/>
          <p:cNvSpPr/>
          <p:nvPr/>
        </p:nvSpPr>
        <p:spPr>
          <a:xfrm flipH="false" flipV="false" rot="-5400000">
            <a:off x="15402878"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4797" y="843519"/>
            <a:ext cx="499539" cy="507406"/>
          </a:xfrm>
          <a:custGeom>
            <a:avLst/>
            <a:gdLst/>
            <a:ahLst/>
            <a:cxnLst/>
            <a:rect r="r" b="b" t="t" l="l"/>
            <a:pathLst>
              <a:path h="507406" w="499539">
                <a:moveTo>
                  <a:pt x="0" y="0"/>
                </a:moveTo>
                <a:lnTo>
                  <a:pt x="499539" y="0"/>
                </a:lnTo>
                <a:lnTo>
                  <a:pt x="499539" y="507406"/>
                </a:lnTo>
                <a:lnTo>
                  <a:pt x="0" y="507406"/>
                </a:lnTo>
                <a:lnTo>
                  <a:pt x="0" y="0"/>
                </a:lnTo>
                <a:close/>
              </a:path>
            </a:pathLst>
          </a:custGeom>
          <a:blipFill>
            <a:blip r:embed="rId2"/>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054482" y="2262850"/>
            <a:ext cx="6964686" cy="6645580"/>
            <a:chOff x="0" y="0"/>
            <a:chExt cx="1834320" cy="1750276"/>
          </a:xfrm>
        </p:grpSpPr>
        <p:sp>
          <p:nvSpPr>
            <p:cNvPr name="Freeform 7" id="7"/>
            <p:cNvSpPr/>
            <p:nvPr/>
          </p:nvSpPr>
          <p:spPr>
            <a:xfrm flipH="false" flipV="false" rot="0">
              <a:off x="0" y="0"/>
              <a:ext cx="1834320" cy="1750276"/>
            </a:xfrm>
            <a:custGeom>
              <a:avLst/>
              <a:gdLst/>
              <a:ahLst/>
              <a:cxnLst/>
              <a:rect r="r" b="b" t="t" l="l"/>
              <a:pathLst>
                <a:path h="1750276" w="1834320">
                  <a:moveTo>
                    <a:pt x="56691" y="0"/>
                  </a:moveTo>
                  <a:lnTo>
                    <a:pt x="1777629" y="0"/>
                  </a:lnTo>
                  <a:cubicBezTo>
                    <a:pt x="1808939" y="0"/>
                    <a:pt x="1834320" y="25382"/>
                    <a:pt x="1834320" y="56691"/>
                  </a:cubicBezTo>
                  <a:lnTo>
                    <a:pt x="1834320" y="1693585"/>
                  </a:lnTo>
                  <a:cubicBezTo>
                    <a:pt x="1834320" y="1708620"/>
                    <a:pt x="1828348" y="1723040"/>
                    <a:pt x="1817716" y="1733672"/>
                  </a:cubicBezTo>
                  <a:cubicBezTo>
                    <a:pt x="1807084" y="1744303"/>
                    <a:pt x="1792664" y="1750276"/>
                    <a:pt x="1777629" y="1750276"/>
                  </a:cubicBezTo>
                  <a:lnTo>
                    <a:pt x="56691" y="1750276"/>
                  </a:lnTo>
                  <a:cubicBezTo>
                    <a:pt x="41656" y="1750276"/>
                    <a:pt x="27236" y="1744303"/>
                    <a:pt x="16605" y="1733672"/>
                  </a:cubicBezTo>
                  <a:cubicBezTo>
                    <a:pt x="5973" y="1723040"/>
                    <a:pt x="0" y="1708620"/>
                    <a:pt x="0" y="1693585"/>
                  </a:cubicBezTo>
                  <a:lnTo>
                    <a:pt x="0" y="56691"/>
                  </a:lnTo>
                  <a:cubicBezTo>
                    <a:pt x="0" y="41656"/>
                    <a:pt x="5973" y="27236"/>
                    <a:pt x="16605" y="16605"/>
                  </a:cubicBezTo>
                  <a:cubicBezTo>
                    <a:pt x="27236" y="5973"/>
                    <a:pt x="41656" y="0"/>
                    <a:pt x="56691" y="0"/>
                  </a:cubicBezTo>
                  <a:close/>
                </a:path>
              </a:pathLst>
            </a:custGeom>
            <a:solidFill>
              <a:srgbClr val="202127"/>
            </a:solidFill>
          </p:spPr>
        </p:sp>
        <p:sp>
          <p:nvSpPr>
            <p:cNvPr name="TextBox 8" id="8"/>
            <p:cNvSpPr txBox="true"/>
            <p:nvPr/>
          </p:nvSpPr>
          <p:spPr>
            <a:xfrm>
              <a:off x="0" y="19050"/>
              <a:ext cx="1834320" cy="1731226"/>
            </a:xfrm>
            <a:prstGeom prst="rect">
              <a:avLst/>
            </a:prstGeom>
          </p:spPr>
          <p:txBody>
            <a:bodyPr anchor="ctr" rtlCol="false" tIns="50800" lIns="50800" bIns="50800" rIns="50800"/>
            <a:lstStyle/>
            <a:p>
              <a:pPr algn="ctr" marL="0" indent="0" lvl="0">
                <a:lnSpc>
                  <a:spcPts val="1387"/>
                </a:lnSpc>
              </a:pPr>
            </a:p>
          </p:txBody>
        </p:sp>
      </p:grpSp>
      <p:grpSp>
        <p:nvGrpSpPr>
          <p:cNvPr name="Group 9" id="9"/>
          <p:cNvGrpSpPr/>
          <p:nvPr/>
        </p:nvGrpSpPr>
        <p:grpSpPr>
          <a:xfrm rot="0">
            <a:off x="9410514" y="5233653"/>
            <a:ext cx="5434050" cy="705218"/>
            <a:chOff x="0" y="0"/>
            <a:chExt cx="1417549" cy="183966"/>
          </a:xfrm>
        </p:grpSpPr>
        <p:sp>
          <p:nvSpPr>
            <p:cNvPr name="Freeform 10" id="10"/>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name="TextBox 11" id="11"/>
            <p:cNvSpPr txBox="true"/>
            <p:nvPr/>
          </p:nvSpPr>
          <p:spPr>
            <a:xfrm>
              <a:off x="0" y="19050"/>
              <a:ext cx="1417549" cy="164916"/>
            </a:xfrm>
            <a:prstGeom prst="rect">
              <a:avLst/>
            </a:prstGeom>
          </p:spPr>
          <p:txBody>
            <a:bodyPr anchor="ctr" rtlCol="false" tIns="50800" lIns="50800" bIns="50800" rIns="50800"/>
            <a:lstStyle/>
            <a:p>
              <a:pPr algn="ctr" marL="0" indent="0" lvl="0">
                <a:lnSpc>
                  <a:spcPts val="1387"/>
                </a:lnSpc>
              </a:pPr>
            </a:p>
          </p:txBody>
        </p:sp>
      </p:grpSp>
      <p:grpSp>
        <p:nvGrpSpPr>
          <p:cNvPr name="Group 12" id="12"/>
          <p:cNvGrpSpPr/>
          <p:nvPr/>
        </p:nvGrpSpPr>
        <p:grpSpPr>
          <a:xfrm rot="0">
            <a:off x="9410514" y="2262850"/>
            <a:ext cx="5434050" cy="2523128"/>
            <a:chOff x="0" y="0"/>
            <a:chExt cx="1417549" cy="658194"/>
          </a:xfrm>
        </p:grpSpPr>
        <p:sp>
          <p:nvSpPr>
            <p:cNvPr name="Freeform 13" id="13"/>
            <p:cNvSpPr/>
            <p:nvPr/>
          </p:nvSpPr>
          <p:spPr>
            <a:xfrm flipH="false" flipV="false" rot="0">
              <a:off x="0" y="0"/>
              <a:ext cx="1417549" cy="658194"/>
            </a:xfrm>
            <a:custGeom>
              <a:avLst/>
              <a:gdLst/>
              <a:ahLst/>
              <a:cxnLst/>
              <a:rect r="r" b="b" t="t" l="l"/>
              <a:pathLst>
                <a:path h="658194" w="1417549">
                  <a:moveTo>
                    <a:pt x="29919" y="0"/>
                  </a:moveTo>
                  <a:lnTo>
                    <a:pt x="1387630" y="0"/>
                  </a:lnTo>
                  <a:cubicBezTo>
                    <a:pt x="1404154" y="0"/>
                    <a:pt x="1417549" y="13395"/>
                    <a:pt x="1417549" y="29919"/>
                  </a:cubicBezTo>
                  <a:lnTo>
                    <a:pt x="1417549" y="628275"/>
                  </a:lnTo>
                  <a:cubicBezTo>
                    <a:pt x="1417549" y="644799"/>
                    <a:pt x="1404154" y="658194"/>
                    <a:pt x="1387630" y="658194"/>
                  </a:cubicBezTo>
                  <a:lnTo>
                    <a:pt x="29919" y="658194"/>
                  </a:lnTo>
                  <a:cubicBezTo>
                    <a:pt x="13395" y="658194"/>
                    <a:pt x="0" y="644799"/>
                    <a:pt x="0" y="628275"/>
                  </a:cubicBezTo>
                  <a:lnTo>
                    <a:pt x="0" y="29919"/>
                  </a:lnTo>
                  <a:cubicBezTo>
                    <a:pt x="0" y="13395"/>
                    <a:pt x="13395" y="0"/>
                    <a:pt x="29919" y="0"/>
                  </a:cubicBezTo>
                  <a:close/>
                </a:path>
              </a:pathLst>
            </a:custGeom>
            <a:gradFill rotWithShape="true">
              <a:gsLst>
                <a:gs pos="0">
                  <a:srgbClr val="0C4A5B">
                    <a:alpha val="100000"/>
                  </a:srgbClr>
                </a:gs>
                <a:gs pos="100000">
                  <a:srgbClr val="27DDDF">
                    <a:alpha val="100000"/>
                  </a:srgbClr>
                </a:gs>
              </a:gsLst>
              <a:lin ang="2700000"/>
            </a:gradFill>
          </p:spPr>
        </p:sp>
        <p:sp>
          <p:nvSpPr>
            <p:cNvPr name="TextBox 14" id="14"/>
            <p:cNvSpPr txBox="true"/>
            <p:nvPr/>
          </p:nvSpPr>
          <p:spPr>
            <a:xfrm>
              <a:off x="0" y="19050"/>
              <a:ext cx="1417549" cy="639144"/>
            </a:xfrm>
            <a:prstGeom prst="rect">
              <a:avLst/>
            </a:prstGeom>
          </p:spPr>
          <p:txBody>
            <a:bodyPr anchor="ctr" rtlCol="false" tIns="50800" lIns="50800" bIns="50800" rIns="50800"/>
            <a:lstStyle/>
            <a:p>
              <a:pPr algn="ctr" marL="0" indent="0" lvl="0">
                <a:lnSpc>
                  <a:spcPts val="1387"/>
                </a:lnSpc>
              </a:pPr>
            </a:p>
          </p:txBody>
        </p:sp>
      </p:grpSp>
      <p:grpSp>
        <p:nvGrpSpPr>
          <p:cNvPr name="Group 15" id="15"/>
          <p:cNvGrpSpPr/>
          <p:nvPr/>
        </p:nvGrpSpPr>
        <p:grpSpPr>
          <a:xfrm rot="0">
            <a:off x="9410514" y="6223506"/>
            <a:ext cx="5434050" cy="705218"/>
            <a:chOff x="0" y="0"/>
            <a:chExt cx="1417549" cy="183966"/>
          </a:xfrm>
        </p:grpSpPr>
        <p:sp>
          <p:nvSpPr>
            <p:cNvPr name="Freeform 16" id="16"/>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name="TextBox 17" id="17"/>
            <p:cNvSpPr txBox="true"/>
            <p:nvPr/>
          </p:nvSpPr>
          <p:spPr>
            <a:xfrm>
              <a:off x="0" y="19050"/>
              <a:ext cx="1417549" cy="164916"/>
            </a:xfrm>
            <a:prstGeom prst="rect">
              <a:avLst/>
            </a:prstGeom>
          </p:spPr>
          <p:txBody>
            <a:bodyPr anchor="ctr" rtlCol="false" tIns="50800" lIns="50800" bIns="50800" rIns="50800"/>
            <a:lstStyle/>
            <a:p>
              <a:pPr algn="ctr" marL="0" indent="0" lvl="0">
                <a:lnSpc>
                  <a:spcPts val="1387"/>
                </a:lnSpc>
              </a:pPr>
            </a:p>
          </p:txBody>
        </p:sp>
      </p:grpSp>
      <p:grpSp>
        <p:nvGrpSpPr>
          <p:cNvPr name="Group 18" id="18"/>
          <p:cNvGrpSpPr/>
          <p:nvPr/>
        </p:nvGrpSpPr>
        <p:grpSpPr>
          <a:xfrm rot="0">
            <a:off x="9410514" y="7213358"/>
            <a:ext cx="5434050" cy="705218"/>
            <a:chOff x="0" y="0"/>
            <a:chExt cx="1417549" cy="183966"/>
          </a:xfrm>
        </p:grpSpPr>
        <p:sp>
          <p:nvSpPr>
            <p:cNvPr name="Freeform 19" id="19"/>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name="TextBox 20" id="20"/>
            <p:cNvSpPr txBox="true"/>
            <p:nvPr/>
          </p:nvSpPr>
          <p:spPr>
            <a:xfrm>
              <a:off x="0" y="19050"/>
              <a:ext cx="1417549" cy="164916"/>
            </a:xfrm>
            <a:prstGeom prst="rect">
              <a:avLst/>
            </a:prstGeom>
          </p:spPr>
          <p:txBody>
            <a:bodyPr anchor="ctr" rtlCol="false" tIns="50800" lIns="50800" bIns="50800" rIns="50800"/>
            <a:lstStyle/>
            <a:p>
              <a:pPr algn="ctr" marL="0" indent="0" lvl="0">
                <a:lnSpc>
                  <a:spcPts val="1387"/>
                </a:lnSpc>
              </a:pPr>
            </a:p>
          </p:txBody>
        </p:sp>
      </p:grpSp>
      <p:grpSp>
        <p:nvGrpSpPr>
          <p:cNvPr name="Group 21" id="21"/>
          <p:cNvGrpSpPr/>
          <p:nvPr/>
        </p:nvGrpSpPr>
        <p:grpSpPr>
          <a:xfrm rot="0">
            <a:off x="9410514" y="8203211"/>
            <a:ext cx="5434050" cy="705218"/>
            <a:chOff x="0" y="0"/>
            <a:chExt cx="1417549" cy="183966"/>
          </a:xfrm>
        </p:grpSpPr>
        <p:sp>
          <p:nvSpPr>
            <p:cNvPr name="Freeform 22" id="22"/>
            <p:cNvSpPr/>
            <p:nvPr/>
          </p:nvSpPr>
          <p:spPr>
            <a:xfrm flipH="false" flipV="false" rot="0">
              <a:off x="0" y="0"/>
              <a:ext cx="1417549" cy="183966"/>
            </a:xfrm>
            <a:custGeom>
              <a:avLst/>
              <a:gdLst/>
              <a:ahLst/>
              <a:cxnLst/>
              <a:rect r="r" b="b" t="t" l="l"/>
              <a:pathLst>
                <a:path h="183966" w="1417549">
                  <a:moveTo>
                    <a:pt x="29919" y="0"/>
                  </a:moveTo>
                  <a:lnTo>
                    <a:pt x="1387630" y="0"/>
                  </a:lnTo>
                  <a:cubicBezTo>
                    <a:pt x="1404154" y="0"/>
                    <a:pt x="1417549" y="13395"/>
                    <a:pt x="1417549" y="29919"/>
                  </a:cubicBezTo>
                  <a:lnTo>
                    <a:pt x="1417549" y="154047"/>
                  </a:lnTo>
                  <a:cubicBezTo>
                    <a:pt x="1417549" y="170571"/>
                    <a:pt x="1404154" y="183966"/>
                    <a:pt x="1387630" y="183966"/>
                  </a:cubicBezTo>
                  <a:lnTo>
                    <a:pt x="29919" y="183966"/>
                  </a:lnTo>
                  <a:cubicBezTo>
                    <a:pt x="13395" y="183966"/>
                    <a:pt x="0" y="170571"/>
                    <a:pt x="0" y="154047"/>
                  </a:cubicBezTo>
                  <a:lnTo>
                    <a:pt x="0" y="29919"/>
                  </a:lnTo>
                  <a:cubicBezTo>
                    <a:pt x="0" y="13395"/>
                    <a:pt x="13395" y="0"/>
                    <a:pt x="29919" y="0"/>
                  </a:cubicBezTo>
                  <a:close/>
                </a:path>
              </a:pathLst>
            </a:custGeom>
            <a:ln w="9525" cap="rnd">
              <a:solidFill>
                <a:srgbClr val="FFFFFF"/>
              </a:solidFill>
              <a:prstDash val="solid"/>
              <a:round/>
            </a:ln>
          </p:spPr>
        </p:sp>
        <p:sp>
          <p:nvSpPr>
            <p:cNvPr name="TextBox 23" id="23"/>
            <p:cNvSpPr txBox="true"/>
            <p:nvPr/>
          </p:nvSpPr>
          <p:spPr>
            <a:xfrm>
              <a:off x="0" y="19050"/>
              <a:ext cx="1417549" cy="164916"/>
            </a:xfrm>
            <a:prstGeom prst="rect">
              <a:avLst/>
            </a:prstGeom>
          </p:spPr>
          <p:txBody>
            <a:bodyPr anchor="ctr" rtlCol="false" tIns="50800" lIns="50800" bIns="50800" rIns="50800"/>
            <a:lstStyle/>
            <a:p>
              <a:pPr algn="ctr" marL="0" indent="0" lvl="0">
                <a:lnSpc>
                  <a:spcPts val="1387"/>
                </a:lnSpc>
              </a:pPr>
            </a:p>
          </p:txBody>
        </p:sp>
      </p:grpSp>
      <p:sp>
        <p:nvSpPr>
          <p:cNvPr name="Freeform 24" id="24"/>
          <p:cNvSpPr/>
          <p:nvPr/>
        </p:nvSpPr>
        <p:spPr>
          <a:xfrm flipH="false" flipV="false" rot="0">
            <a:off x="12977827" y="3411243"/>
            <a:ext cx="1333983" cy="1407897"/>
          </a:xfrm>
          <a:custGeom>
            <a:avLst/>
            <a:gdLst/>
            <a:ahLst/>
            <a:cxnLst/>
            <a:rect r="r" b="b" t="t" l="l"/>
            <a:pathLst>
              <a:path h="1407897" w="1333983">
                <a:moveTo>
                  <a:pt x="0" y="0"/>
                </a:moveTo>
                <a:lnTo>
                  <a:pt x="1333982" y="0"/>
                </a:lnTo>
                <a:lnTo>
                  <a:pt x="1333982" y="1407897"/>
                </a:lnTo>
                <a:lnTo>
                  <a:pt x="0" y="1407897"/>
                </a:lnTo>
                <a:lnTo>
                  <a:pt x="0" y="0"/>
                </a:lnTo>
                <a:close/>
              </a:path>
            </a:pathLst>
          </a:custGeom>
          <a:blipFill>
            <a:blip r:embed="rId3"/>
            <a:stretch>
              <a:fillRect l="0" t="0" r="0" b="0"/>
            </a:stretch>
          </a:blipFill>
        </p:spPr>
      </p:sp>
      <p:sp>
        <p:nvSpPr>
          <p:cNvPr name="TextBox 25" id="25"/>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26" id="26"/>
          <p:cNvSpPr txBox="true"/>
          <p:nvPr/>
        </p:nvSpPr>
        <p:spPr>
          <a:xfrm rot="0">
            <a:off x="13923200" y="920927"/>
            <a:ext cx="300272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EMSI 2025-2026</a:t>
            </a:r>
          </a:p>
        </p:txBody>
      </p:sp>
      <p:sp>
        <p:nvSpPr>
          <p:cNvPr name="TextBox 27" id="27"/>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Qualité</a:t>
            </a:r>
          </a:p>
        </p:txBody>
      </p:sp>
      <p:sp>
        <p:nvSpPr>
          <p:cNvPr name="TextBox 28" id="28"/>
          <p:cNvSpPr txBox="true"/>
          <p:nvPr/>
        </p:nvSpPr>
        <p:spPr>
          <a:xfrm rot="0">
            <a:off x="11721551" y="920927"/>
            <a:ext cx="81197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NFR</a:t>
            </a:r>
          </a:p>
        </p:txBody>
      </p:sp>
      <p:sp>
        <p:nvSpPr>
          <p:cNvPr name="TextBox 29" id="29"/>
          <p:cNvSpPr txBox="true"/>
          <p:nvPr/>
        </p:nvSpPr>
        <p:spPr>
          <a:xfrm rot="0">
            <a:off x="9900992" y="5486424"/>
            <a:ext cx="3088392" cy="255608"/>
          </a:xfrm>
          <a:prstGeom prst="rect">
            <a:avLst/>
          </a:prstGeom>
        </p:spPr>
        <p:txBody>
          <a:bodyPr anchor="t" rtlCol="false" tIns="0" lIns="0" bIns="0" rIns="0">
            <a:spAutoFit/>
          </a:bodyPr>
          <a:lstStyle/>
          <a:p>
            <a:pPr algn="l" marL="0" indent="0" lvl="0">
              <a:lnSpc>
                <a:spcPts val="1616"/>
              </a:lnSpc>
            </a:pPr>
            <a:r>
              <a:rPr lang="en-US" sz="1836">
                <a:solidFill>
                  <a:srgbClr val="FFFFFF"/>
                </a:solidFill>
                <a:latin typeface="Arial MT Pro"/>
                <a:ea typeface="Arial MT Pro"/>
                <a:cs typeface="Arial MT Pro"/>
                <a:sym typeface="Arial MT Pro"/>
              </a:rPr>
              <a:t>Performance &amp; Rapidité</a:t>
            </a:r>
          </a:p>
        </p:txBody>
      </p:sp>
      <p:sp>
        <p:nvSpPr>
          <p:cNvPr name="TextBox 30" id="30"/>
          <p:cNvSpPr txBox="true"/>
          <p:nvPr/>
        </p:nvSpPr>
        <p:spPr>
          <a:xfrm rot="0">
            <a:off x="9900992" y="6476276"/>
            <a:ext cx="3088392" cy="255608"/>
          </a:xfrm>
          <a:prstGeom prst="rect">
            <a:avLst/>
          </a:prstGeom>
        </p:spPr>
        <p:txBody>
          <a:bodyPr anchor="t" rtlCol="false" tIns="0" lIns="0" bIns="0" rIns="0">
            <a:spAutoFit/>
          </a:bodyPr>
          <a:lstStyle/>
          <a:p>
            <a:pPr algn="l" marL="0" indent="0" lvl="0">
              <a:lnSpc>
                <a:spcPts val="1616"/>
              </a:lnSpc>
            </a:pPr>
            <a:r>
              <a:rPr lang="en-US" sz="1836">
                <a:solidFill>
                  <a:srgbClr val="FFFFFF"/>
                </a:solidFill>
                <a:latin typeface="Arial MT Pro"/>
                <a:ea typeface="Arial MT Pro"/>
                <a:cs typeface="Arial MT Pro"/>
                <a:sym typeface="Arial MT Pro"/>
              </a:rPr>
              <a:t>Sécurité des Données</a:t>
            </a:r>
          </a:p>
        </p:txBody>
      </p:sp>
      <p:sp>
        <p:nvSpPr>
          <p:cNvPr name="TextBox 31" id="31"/>
          <p:cNvSpPr txBox="true"/>
          <p:nvPr/>
        </p:nvSpPr>
        <p:spPr>
          <a:xfrm rot="0">
            <a:off x="9900992" y="7466129"/>
            <a:ext cx="3088392" cy="255608"/>
          </a:xfrm>
          <a:prstGeom prst="rect">
            <a:avLst/>
          </a:prstGeom>
        </p:spPr>
        <p:txBody>
          <a:bodyPr anchor="t" rtlCol="false" tIns="0" lIns="0" bIns="0" rIns="0">
            <a:spAutoFit/>
          </a:bodyPr>
          <a:lstStyle/>
          <a:p>
            <a:pPr algn="l" marL="0" indent="0" lvl="0">
              <a:lnSpc>
                <a:spcPts val="1616"/>
              </a:lnSpc>
            </a:pPr>
            <a:r>
              <a:rPr lang="en-US" sz="1836">
                <a:solidFill>
                  <a:srgbClr val="FFFFFF"/>
                </a:solidFill>
                <a:latin typeface="Arial MT Pro"/>
                <a:ea typeface="Arial MT Pro"/>
                <a:cs typeface="Arial MT Pro"/>
                <a:sym typeface="Arial MT Pro"/>
              </a:rPr>
              <a:t>Ergonomie &amp; UX Fluide</a:t>
            </a:r>
          </a:p>
        </p:txBody>
      </p:sp>
      <p:sp>
        <p:nvSpPr>
          <p:cNvPr name="TextBox 32" id="32"/>
          <p:cNvSpPr txBox="true"/>
          <p:nvPr/>
        </p:nvSpPr>
        <p:spPr>
          <a:xfrm rot="0">
            <a:off x="9900992" y="8455982"/>
            <a:ext cx="3088392" cy="255608"/>
          </a:xfrm>
          <a:prstGeom prst="rect">
            <a:avLst/>
          </a:prstGeom>
        </p:spPr>
        <p:txBody>
          <a:bodyPr anchor="t" rtlCol="false" tIns="0" lIns="0" bIns="0" rIns="0">
            <a:spAutoFit/>
          </a:bodyPr>
          <a:lstStyle/>
          <a:p>
            <a:pPr algn="l" marL="0" indent="0" lvl="0">
              <a:lnSpc>
                <a:spcPts val="1616"/>
              </a:lnSpc>
            </a:pPr>
            <a:r>
              <a:rPr lang="en-US" sz="1836">
                <a:solidFill>
                  <a:srgbClr val="FFFFFF"/>
                </a:solidFill>
                <a:latin typeface="Arial MT Pro"/>
                <a:ea typeface="Arial MT Pro"/>
                <a:cs typeface="Arial MT Pro"/>
                <a:sym typeface="Arial MT Pro"/>
              </a:rPr>
              <a:t>Maintenabilité &amp; Évolutivité</a:t>
            </a:r>
          </a:p>
        </p:txBody>
      </p:sp>
      <p:sp>
        <p:nvSpPr>
          <p:cNvPr name="TextBox 33" id="33"/>
          <p:cNvSpPr txBox="true"/>
          <p:nvPr/>
        </p:nvSpPr>
        <p:spPr>
          <a:xfrm rot="0">
            <a:off x="2811474" y="3077081"/>
            <a:ext cx="5036482" cy="1645313"/>
          </a:xfrm>
          <a:prstGeom prst="rect">
            <a:avLst/>
          </a:prstGeom>
        </p:spPr>
        <p:txBody>
          <a:bodyPr anchor="t" rtlCol="false" tIns="0" lIns="0" bIns="0" rIns="0">
            <a:spAutoFit/>
          </a:bodyPr>
          <a:lstStyle/>
          <a:p>
            <a:pPr algn="l" marL="0" indent="0" lvl="0">
              <a:lnSpc>
                <a:spcPts val="5917"/>
              </a:lnSpc>
            </a:pPr>
            <a:r>
              <a:rPr lang="en-US" b="true" sz="5690" spc="-238">
                <a:solidFill>
                  <a:srgbClr val="FFFFFF"/>
                </a:solidFill>
                <a:latin typeface="Arial MT Pro Bold"/>
                <a:ea typeface="Arial MT Pro Bold"/>
                <a:cs typeface="Arial MT Pro Bold"/>
                <a:sym typeface="Arial MT Pro Bold"/>
              </a:rPr>
              <a:t>Besoins Non Fonctionnels</a:t>
            </a:r>
          </a:p>
        </p:txBody>
      </p:sp>
      <p:sp>
        <p:nvSpPr>
          <p:cNvPr name="TextBox 34" id="34"/>
          <p:cNvSpPr txBox="true"/>
          <p:nvPr/>
        </p:nvSpPr>
        <p:spPr>
          <a:xfrm rot="0">
            <a:off x="9900992" y="2804036"/>
            <a:ext cx="2347875" cy="728305"/>
          </a:xfrm>
          <a:prstGeom prst="rect">
            <a:avLst/>
          </a:prstGeom>
        </p:spPr>
        <p:txBody>
          <a:bodyPr anchor="t" rtlCol="false" tIns="0" lIns="0" bIns="0" rIns="0">
            <a:spAutoFit/>
          </a:bodyPr>
          <a:lstStyle/>
          <a:p>
            <a:pPr algn="l" marL="0" indent="0" lvl="0">
              <a:lnSpc>
                <a:spcPts val="2621"/>
              </a:lnSpc>
            </a:pPr>
            <a:r>
              <a:rPr lang="en-US" b="true" sz="2520" spc="-105">
                <a:solidFill>
                  <a:srgbClr val="FFFFFF"/>
                </a:solidFill>
                <a:latin typeface="Arial MT Pro Bold"/>
                <a:ea typeface="Arial MT Pro Bold"/>
                <a:cs typeface="Arial MT Pro Bold"/>
                <a:sym typeface="Arial MT Pro Bold"/>
              </a:rPr>
              <a:t>critères de qualité</a:t>
            </a:r>
          </a:p>
        </p:txBody>
      </p:sp>
      <p:sp>
        <p:nvSpPr>
          <p:cNvPr name="TextBox 35" id="35"/>
          <p:cNvSpPr txBox="true"/>
          <p:nvPr/>
        </p:nvSpPr>
        <p:spPr>
          <a:xfrm rot="0">
            <a:off x="2811474" y="6480865"/>
            <a:ext cx="5085733" cy="1588856"/>
          </a:xfrm>
          <a:prstGeom prst="rect">
            <a:avLst/>
          </a:prstGeom>
        </p:spPr>
        <p:txBody>
          <a:bodyPr anchor="t" rtlCol="false" tIns="0" lIns="0" bIns="0" rIns="0">
            <a:spAutoFit/>
          </a:bodyPr>
          <a:lstStyle/>
          <a:p>
            <a:pPr algn="l" marL="0" indent="0" lvl="0">
              <a:lnSpc>
                <a:spcPts val="2504"/>
              </a:lnSpc>
            </a:pPr>
            <a:r>
              <a:rPr lang="en-US" sz="1575">
                <a:solidFill>
                  <a:srgbClr val="FFFFFF"/>
                </a:solidFill>
                <a:latin typeface="Arial MT Pro"/>
                <a:ea typeface="Arial MT Pro"/>
                <a:cs typeface="Arial MT Pro"/>
                <a:sym typeface="Arial MT Pro"/>
              </a:rPr>
              <a:t>Les besoins non fonctionnels garantissent la robustesse et la qualité de MoviesApp. L'application assure un affichage rapide des données, protège les informations utilisateur via Firebase, offre une navigation intuitive et reste facilement maintenable pour les évolutions futures.</a:t>
            </a:r>
          </a:p>
        </p:txBody>
      </p:sp>
      <p:grpSp>
        <p:nvGrpSpPr>
          <p:cNvPr name="Group 36" id="36"/>
          <p:cNvGrpSpPr/>
          <p:nvPr/>
        </p:nvGrpSpPr>
        <p:grpSpPr>
          <a:xfrm rot="-4011154">
            <a:off x="13539775" y="1196864"/>
            <a:ext cx="17403374" cy="18180272"/>
            <a:chOff x="0" y="0"/>
            <a:chExt cx="4583605" cy="4788220"/>
          </a:xfrm>
        </p:grpSpPr>
        <p:sp>
          <p:nvSpPr>
            <p:cNvPr name="Freeform 37" id="37"/>
            <p:cNvSpPr/>
            <p:nvPr/>
          </p:nvSpPr>
          <p:spPr>
            <a:xfrm flipH="false" flipV="false" rot="0">
              <a:off x="0" y="0"/>
              <a:ext cx="4583605" cy="4788220"/>
            </a:xfrm>
            <a:custGeom>
              <a:avLst/>
              <a:gdLst/>
              <a:ahLst/>
              <a:cxnLst/>
              <a:rect r="r" b="b" t="t" l="l"/>
              <a:pathLst>
                <a:path h="4788220" w="4583605">
                  <a:moveTo>
                    <a:pt x="0" y="0"/>
                  </a:moveTo>
                  <a:lnTo>
                    <a:pt x="4583605" y="0"/>
                  </a:lnTo>
                  <a:lnTo>
                    <a:pt x="4583605"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38" id="38"/>
            <p:cNvSpPr txBox="true"/>
            <p:nvPr/>
          </p:nvSpPr>
          <p:spPr>
            <a:xfrm>
              <a:off x="0" y="19050"/>
              <a:ext cx="4583605" cy="4769170"/>
            </a:xfrm>
            <a:prstGeom prst="rect">
              <a:avLst/>
            </a:prstGeom>
          </p:spPr>
          <p:txBody>
            <a:bodyPr anchor="ctr" rtlCol="false" tIns="50800" lIns="50800" bIns="50800" rIns="50800"/>
            <a:lstStyle/>
            <a:p>
              <a:pPr algn="ctr" marL="0" indent="0" lvl="0">
                <a:lnSpc>
                  <a:spcPts val="1387"/>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p:spPr>
      </p:sp>
      <p:grpSp>
        <p:nvGrpSpPr>
          <p:cNvPr name="Group 3" id="3"/>
          <p:cNvGrpSpPr/>
          <p:nvPr/>
        </p:nvGrpSpPr>
        <p:grpSpPr>
          <a:xfrm rot="0">
            <a:off x="-1235334" y="0"/>
            <a:ext cx="9457763" cy="10287000"/>
            <a:chOff x="0" y="0"/>
            <a:chExt cx="2490933" cy="2709333"/>
          </a:xfrm>
        </p:grpSpPr>
        <p:sp>
          <p:nvSpPr>
            <p:cNvPr name="Freeform 4" id="4"/>
            <p:cNvSpPr/>
            <p:nvPr/>
          </p:nvSpPr>
          <p:spPr>
            <a:xfrm flipH="false" flipV="false" rot="0">
              <a:off x="0" y="0"/>
              <a:ext cx="2490933" cy="2709333"/>
            </a:xfrm>
            <a:custGeom>
              <a:avLst/>
              <a:gdLst/>
              <a:ahLst/>
              <a:cxnLst/>
              <a:rect r="r" b="b" t="t" l="l"/>
              <a:pathLst>
                <a:path h="2709333" w="2490933">
                  <a:moveTo>
                    <a:pt x="0" y="0"/>
                  </a:moveTo>
                  <a:lnTo>
                    <a:pt x="2490933" y="0"/>
                  </a:lnTo>
                  <a:lnTo>
                    <a:pt x="2490933" y="2709333"/>
                  </a:lnTo>
                  <a:lnTo>
                    <a:pt x="0" y="2709333"/>
                  </a:lnTo>
                  <a:close/>
                </a:path>
              </a:pathLst>
            </a:custGeom>
            <a:gradFill rotWithShape="true">
              <a:gsLst>
                <a:gs pos="0">
                  <a:srgbClr val="141519">
                    <a:alpha val="100000"/>
                  </a:srgbClr>
                </a:gs>
                <a:gs pos="100000">
                  <a:srgbClr val="141519">
                    <a:alpha val="0"/>
                  </a:srgbClr>
                </a:gs>
              </a:gsLst>
              <a:lin ang="0"/>
            </a:gradFill>
          </p:spPr>
        </p:sp>
        <p:sp>
          <p:nvSpPr>
            <p:cNvPr name="TextBox 5" id="5"/>
            <p:cNvSpPr txBox="true"/>
            <p:nvPr/>
          </p:nvSpPr>
          <p:spPr>
            <a:xfrm>
              <a:off x="0" y="19050"/>
              <a:ext cx="2490933" cy="2690283"/>
            </a:xfrm>
            <a:prstGeom prst="rect">
              <a:avLst/>
            </a:prstGeom>
          </p:spPr>
          <p:txBody>
            <a:bodyPr anchor="ctr" rtlCol="false" tIns="50800" lIns="50800" bIns="50800" rIns="50800"/>
            <a:lstStyle/>
            <a:p>
              <a:pPr algn="ctr" marL="0" indent="0" lvl="0">
                <a:lnSpc>
                  <a:spcPts val="1387"/>
                </a:lnSpc>
              </a:pPr>
            </a:p>
          </p:txBody>
        </p:sp>
      </p:grpSp>
      <p:sp>
        <p:nvSpPr>
          <p:cNvPr name="Freeform 6" id="6"/>
          <p:cNvSpPr/>
          <p:nvPr/>
        </p:nvSpPr>
        <p:spPr>
          <a:xfrm flipH="false" flipV="false" rot="0">
            <a:off x="1074577" y="845799"/>
            <a:ext cx="499539" cy="503199"/>
          </a:xfrm>
          <a:custGeom>
            <a:avLst/>
            <a:gdLst/>
            <a:ahLst/>
            <a:cxnLst/>
            <a:rect r="r" b="b" t="t" l="l"/>
            <a:pathLst>
              <a:path h="503199" w="499539">
                <a:moveTo>
                  <a:pt x="0" y="0"/>
                </a:moveTo>
                <a:lnTo>
                  <a:pt x="499540" y="0"/>
                </a:lnTo>
                <a:lnTo>
                  <a:pt x="499540" y="503199"/>
                </a:lnTo>
                <a:lnTo>
                  <a:pt x="0" y="50319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5154957" y="756844"/>
            <a:ext cx="2104343" cy="481425"/>
            <a:chOff x="0" y="0"/>
            <a:chExt cx="1776404" cy="406400"/>
          </a:xfrm>
        </p:grpSpPr>
        <p:sp>
          <p:nvSpPr>
            <p:cNvPr name="Freeform 8" id="8"/>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9" id="9"/>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11" id="11"/>
          <p:cNvSpPr txBox="true"/>
          <p:nvPr/>
        </p:nvSpPr>
        <p:spPr>
          <a:xfrm rot="0">
            <a:off x="13923200" y="920927"/>
            <a:ext cx="300272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Projet EMSI 2025-2026</a:t>
            </a:r>
          </a:p>
        </p:txBody>
      </p:sp>
      <p:sp>
        <p:nvSpPr>
          <p:cNvPr name="TextBox 12" id="12"/>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Page 8/18</a:t>
            </a:r>
          </a:p>
        </p:txBody>
      </p:sp>
      <p:sp>
        <p:nvSpPr>
          <p:cNvPr name="TextBox 13" id="13"/>
          <p:cNvSpPr txBox="true"/>
          <p:nvPr/>
        </p:nvSpPr>
        <p:spPr>
          <a:xfrm rot="0">
            <a:off x="11721551" y="920927"/>
            <a:ext cx="81197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UML</a:t>
            </a:r>
          </a:p>
        </p:txBody>
      </p:sp>
      <p:sp>
        <p:nvSpPr>
          <p:cNvPr name="TextBox 14" id="14"/>
          <p:cNvSpPr txBox="true"/>
          <p:nvPr/>
        </p:nvSpPr>
        <p:spPr>
          <a:xfrm rot="0">
            <a:off x="2054482" y="2894776"/>
            <a:ext cx="10313407" cy="2184478"/>
          </a:xfrm>
          <a:prstGeom prst="rect">
            <a:avLst/>
          </a:prstGeom>
        </p:spPr>
        <p:txBody>
          <a:bodyPr anchor="t" rtlCol="false" tIns="0" lIns="0" bIns="0" rIns="0">
            <a:spAutoFit/>
          </a:bodyPr>
          <a:lstStyle/>
          <a:p>
            <a:pPr algn="l" marL="0" indent="0" lvl="0">
              <a:lnSpc>
                <a:spcPts val="7775"/>
              </a:lnSpc>
            </a:pPr>
            <a:r>
              <a:rPr lang="en-US" b="true" sz="8015" spc="-128">
                <a:solidFill>
                  <a:srgbClr val="FFFFFF"/>
                </a:solidFill>
                <a:latin typeface="Arial MT Pro Bold"/>
                <a:ea typeface="Arial MT Pro Bold"/>
                <a:cs typeface="Arial MT Pro Bold"/>
                <a:sym typeface="Arial MT Pro Bold"/>
              </a:rPr>
              <a:t>Diagrammes UML - Cas d'Utilisation</a:t>
            </a:r>
          </a:p>
        </p:txBody>
      </p:sp>
      <p:sp>
        <p:nvSpPr>
          <p:cNvPr name="TextBox 15" id="15"/>
          <p:cNvSpPr txBox="true"/>
          <p:nvPr/>
        </p:nvSpPr>
        <p:spPr>
          <a:xfrm rot="0">
            <a:off x="2054482" y="6345045"/>
            <a:ext cx="5790977" cy="1684015"/>
          </a:xfrm>
          <a:prstGeom prst="rect">
            <a:avLst/>
          </a:prstGeom>
        </p:spPr>
        <p:txBody>
          <a:bodyPr anchor="t" rtlCol="false" tIns="0" lIns="0" bIns="0" rIns="0">
            <a:spAutoFit/>
          </a:bodyPr>
          <a:lstStyle/>
          <a:p>
            <a:pPr algn="just" marL="0" indent="0" lvl="0">
              <a:lnSpc>
                <a:spcPts val="2205"/>
              </a:lnSpc>
              <a:spcBef>
                <a:spcPct val="0"/>
              </a:spcBef>
            </a:pPr>
            <a:r>
              <a:rPr lang="en-US" sz="1575">
                <a:solidFill>
                  <a:srgbClr val="FFFFFF"/>
                </a:solidFill>
                <a:latin typeface="Arial MT Pro"/>
                <a:ea typeface="Arial MT Pro"/>
                <a:cs typeface="Arial MT Pro"/>
                <a:sym typeface="Arial MT Pro"/>
              </a:rPr>
              <a:t>Acteurs principaux : Utilisateur (interaction directe), Système MoviesApp (traitement central), Services externes (TMDB API, Firebase, Google Maps). Cas d'utilisation clés : Authentification sécurisée via Firebase, Recherche de films (texte et vocale), Interaction avec CineBot pour recommandations, Géolocalisation des cinémas à proximité.</a:t>
            </a:r>
          </a:p>
        </p:txBody>
      </p:sp>
      <p:grpSp>
        <p:nvGrpSpPr>
          <p:cNvPr name="Group 16" id="16"/>
          <p:cNvGrpSpPr/>
          <p:nvPr/>
        </p:nvGrpSpPr>
        <p:grpSpPr>
          <a:xfrm rot="-4011154">
            <a:off x="12755358" y="3032614"/>
            <a:ext cx="17403374" cy="15009081"/>
            <a:chOff x="0" y="0"/>
            <a:chExt cx="4583605" cy="3953009"/>
          </a:xfrm>
        </p:grpSpPr>
        <p:sp>
          <p:nvSpPr>
            <p:cNvPr name="Freeform 17" id="17"/>
            <p:cNvSpPr/>
            <p:nvPr/>
          </p:nvSpPr>
          <p:spPr>
            <a:xfrm flipH="false" flipV="false" rot="0">
              <a:off x="0" y="0"/>
              <a:ext cx="4583605" cy="3953009"/>
            </a:xfrm>
            <a:custGeom>
              <a:avLst/>
              <a:gdLst/>
              <a:ahLst/>
              <a:cxnLst/>
              <a:rect r="r" b="b" t="t" l="l"/>
              <a:pathLst>
                <a:path h="3953009" w="4583605">
                  <a:moveTo>
                    <a:pt x="0" y="0"/>
                  </a:moveTo>
                  <a:lnTo>
                    <a:pt x="4583605" y="0"/>
                  </a:lnTo>
                  <a:lnTo>
                    <a:pt x="4583605" y="3953009"/>
                  </a:lnTo>
                  <a:lnTo>
                    <a:pt x="0" y="3953009"/>
                  </a:lnTo>
                  <a:close/>
                </a:path>
              </a:pathLst>
            </a:custGeom>
            <a:gradFill rotWithShape="true">
              <a:gsLst>
                <a:gs pos="0">
                  <a:srgbClr val="27DDDF">
                    <a:alpha val="0"/>
                  </a:srgbClr>
                </a:gs>
                <a:gs pos="100000">
                  <a:srgbClr val="27DDDF">
                    <a:alpha val="100000"/>
                  </a:srgbClr>
                </a:gs>
              </a:gsLst>
              <a:lin ang="5400000"/>
            </a:gradFill>
          </p:spPr>
        </p:sp>
        <p:sp>
          <p:nvSpPr>
            <p:cNvPr name="TextBox 18" id="18"/>
            <p:cNvSpPr txBox="true"/>
            <p:nvPr/>
          </p:nvSpPr>
          <p:spPr>
            <a:xfrm>
              <a:off x="0" y="19050"/>
              <a:ext cx="4583605" cy="3933959"/>
            </a:xfrm>
            <a:prstGeom prst="rect">
              <a:avLst/>
            </a:prstGeom>
          </p:spPr>
          <p:txBody>
            <a:bodyPr anchor="ctr" rtlCol="false" tIns="50800" lIns="50800" bIns="50800" rIns="50800"/>
            <a:lstStyle/>
            <a:p>
              <a:pPr algn="ctr" marL="0" indent="0" lvl="0">
                <a:lnSpc>
                  <a:spcPts val="1387"/>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2256" y="845956"/>
            <a:ext cx="504585" cy="504585"/>
          </a:xfrm>
          <a:custGeom>
            <a:avLst/>
            <a:gdLst/>
            <a:ahLst/>
            <a:cxnLst/>
            <a:rect r="r" b="b" t="t" l="l"/>
            <a:pathLst>
              <a:path h="504585" w="504585">
                <a:moveTo>
                  <a:pt x="0" y="0"/>
                </a:moveTo>
                <a:lnTo>
                  <a:pt x="504585" y="0"/>
                </a:lnTo>
                <a:lnTo>
                  <a:pt x="504585" y="504585"/>
                </a:lnTo>
                <a:lnTo>
                  <a:pt x="0" y="504585"/>
                </a:lnTo>
                <a:lnTo>
                  <a:pt x="0" y="0"/>
                </a:lnTo>
                <a:close/>
              </a:path>
            </a:pathLst>
          </a:custGeom>
          <a:blipFill>
            <a:blip r:embed="rId2"/>
            <a:stretch>
              <a:fillRect l="0" t="0" r="0" b="0"/>
            </a:stretch>
          </a:blipFill>
        </p:spPr>
      </p:sp>
      <p:sp>
        <p:nvSpPr>
          <p:cNvPr name="TextBox 3" id="3"/>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13923200" y="911402"/>
            <a:ext cx="3002725" cy="211386"/>
          </a:xfrm>
          <a:prstGeom prst="rect">
            <a:avLst/>
          </a:prstGeom>
        </p:spPr>
        <p:txBody>
          <a:bodyPr anchor="t" rtlCol="false" tIns="0" lIns="0" bIns="0" rIns="0">
            <a:spAutoFit/>
          </a:bodyPr>
          <a:lstStyle/>
          <a:p>
            <a:pPr algn="r" marL="0" indent="0" lvl="0">
              <a:lnSpc>
                <a:spcPts val="1277"/>
              </a:lnSpc>
            </a:pPr>
            <a:r>
              <a:rPr lang="en-US" sz="1451">
                <a:solidFill>
                  <a:srgbClr val="FFFFFF"/>
                </a:solidFill>
                <a:latin typeface="Arial MT Pro"/>
                <a:ea typeface="Arial MT Pro"/>
                <a:cs typeface="Arial MT Pro"/>
                <a:sym typeface="Arial MT Pro"/>
              </a:rPr>
              <a:t>@RimSakine</a:t>
            </a:r>
          </a:p>
        </p:txBody>
      </p:sp>
      <p:sp>
        <p:nvSpPr>
          <p:cNvPr name="TextBox 8" id="8"/>
          <p:cNvSpPr txBox="true"/>
          <p:nvPr/>
        </p:nvSpPr>
        <p:spPr>
          <a:xfrm rot="0">
            <a:off x="13179026" y="911402"/>
            <a:ext cx="1136202" cy="211386"/>
          </a:xfrm>
          <a:prstGeom prst="rect">
            <a:avLst/>
          </a:prstGeom>
        </p:spPr>
        <p:txBody>
          <a:bodyPr anchor="t" rtlCol="false" tIns="0" lIns="0" bIns="0" rIns="0">
            <a:spAutoFit/>
          </a:bodyPr>
          <a:lstStyle/>
          <a:p>
            <a:pPr algn="r" marL="0" indent="0" lvl="0">
              <a:lnSpc>
                <a:spcPts val="1277"/>
              </a:lnSpc>
            </a:pPr>
            <a:r>
              <a:rPr lang="en-US" sz="1451">
                <a:solidFill>
                  <a:srgbClr val="FFFFFF"/>
                </a:solidFill>
                <a:latin typeface="Arial MT Pro"/>
                <a:ea typeface="Arial MT Pro"/>
                <a:cs typeface="Arial MT Pro"/>
                <a:sym typeface="Arial MT Pro"/>
              </a:rPr>
              <a:t>EMSI 2025</a:t>
            </a:r>
          </a:p>
        </p:txBody>
      </p:sp>
      <p:sp>
        <p:nvSpPr>
          <p:cNvPr name="TextBox 9" id="9"/>
          <p:cNvSpPr txBox="true"/>
          <p:nvPr/>
        </p:nvSpPr>
        <p:spPr>
          <a:xfrm rot="0">
            <a:off x="11721551" y="911402"/>
            <a:ext cx="811975" cy="211386"/>
          </a:xfrm>
          <a:prstGeom prst="rect">
            <a:avLst/>
          </a:prstGeom>
        </p:spPr>
        <p:txBody>
          <a:bodyPr anchor="t" rtlCol="false" tIns="0" lIns="0" bIns="0" rIns="0">
            <a:spAutoFit/>
          </a:bodyPr>
          <a:lstStyle/>
          <a:p>
            <a:pPr algn="r" marL="0" indent="0" lvl="0">
              <a:lnSpc>
                <a:spcPts val="1277"/>
              </a:lnSpc>
            </a:pPr>
            <a:r>
              <a:rPr lang="en-US" sz="1451">
                <a:solidFill>
                  <a:srgbClr val="FFFFFF"/>
                </a:solidFill>
                <a:latin typeface="Arial MT Pro"/>
                <a:ea typeface="Arial MT Pro"/>
                <a:cs typeface="Arial MT Pro"/>
                <a:sym typeface="Arial MT Pro"/>
              </a:rPr>
              <a:t>UML</a:t>
            </a:r>
          </a:p>
        </p:txBody>
      </p:sp>
      <p:grpSp>
        <p:nvGrpSpPr>
          <p:cNvPr name="Group 10" id="10"/>
          <p:cNvGrpSpPr/>
          <p:nvPr/>
        </p:nvGrpSpPr>
        <p:grpSpPr>
          <a:xfrm rot="0">
            <a:off x="2054482" y="2277799"/>
            <a:ext cx="8679644" cy="6630631"/>
            <a:chOff x="0" y="0"/>
            <a:chExt cx="2143421" cy="1637421"/>
          </a:xfrm>
        </p:grpSpPr>
        <p:sp>
          <p:nvSpPr>
            <p:cNvPr name="Freeform 11" id="11"/>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3"/>
              <a:stretch>
                <a:fillRect l="-1184" t="0" r="-1184" b="0"/>
              </a:stretch>
            </a:blipFill>
          </p:spPr>
        </p:sp>
      </p:grpSp>
      <p:grpSp>
        <p:nvGrpSpPr>
          <p:cNvPr name="Group 12" id="12"/>
          <p:cNvGrpSpPr/>
          <p:nvPr/>
        </p:nvGrpSpPr>
        <p:grpSpPr>
          <a:xfrm rot="0">
            <a:off x="2054482" y="4580882"/>
            <a:ext cx="8679644" cy="4327547"/>
            <a:chOff x="0" y="0"/>
            <a:chExt cx="2285997" cy="1139766"/>
          </a:xfrm>
        </p:grpSpPr>
        <p:sp>
          <p:nvSpPr>
            <p:cNvPr name="Freeform 13" id="13"/>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14" id="14"/>
            <p:cNvSpPr txBox="true"/>
            <p:nvPr/>
          </p:nvSpPr>
          <p:spPr>
            <a:xfrm>
              <a:off x="0" y="19050"/>
              <a:ext cx="2285997" cy="1120716"/>
            </a:xfrm>
            <a:prstGeom prst="rect">
              <a:avLst/>
            </a:prstGeom>
          </p:spPr>
          <p:txBody>
            <a:bodyPr anchor="ctr" rtlCol="false" tIns="50800" lIns="50800" bIns="50800" rIns="50800"/>
            <a:lstStyle/>
            <a:p>
              <a:pPr algn="ctr" marL="0" indent="0" lvl="0">
                <a:lnSpc>
                  <a:spcPts val="1387"/>
                </a:lnSpc>
              </a:pPr>
            </a:p>
          </p:txBody>
        </p:sp>
      </p:grpSp>
      <p:sp>
        <p:nvSpPr>
          <p:cNvPr name="TextBox 15" id="15"/>
          <p:cNvSpPr txBox="true"/>
          <p:nvPr/>
        </p:nvSpPr>
        <p:spPr>
          <a:xfrm rot="0">
            <a:off x="2811474" y="6716081"/>
            <a:ext cx="5036482" cy="1441982"/>
          </a:xfrm>
          <a:prstGeom prst="rect">
            <a:avLst/>
          </a:prstGeom>
        </p:spPr>
        <p:txBody>
          <a:bodyPr anchor="t" rtlCol="false" tIns="0" lIns="0" bIns="0" rIns="0">
            <a:spAutoFit/>
          </a:bodyPr>
          <a:lstStyle/>
          <a:p>
            <a:pPr algn="l" marL="0" indent="0" lvl="0">
              <a:lnSpc>
                <a:spcPts val="5201"/>
              </a:lnSpc>
            </a:pPr>
            <a:r>
              <a:rPr lang="en-US" b="true" sz="5001" spc="-210">
                <a:solidFill>
                  <a:srgbClr val="FFFFFF"/>
                </a:solidFill>
                <a:latin typeface="Arial MT Pro Bold"/>
                <a:ea typeface="Arial MT Pro Bold"/>
                <a:cs typeface="Arial MT Pro Bold"/>
                <a:sym typeface="Arial MT Pro Bold"/>
              </a:rPr>
              <a:t>Diagrammes UML</a:t>
            </a:r>
          </a:p>
          <a:p>
            <a:pPr algn="l" marL="0" indent="0" lvl="0">
              <a:lnSpc>
                <a:spcPts val="5201"/>
              </a:lnSpc>
            </a:pPr>
            <a:r>
              <a:rPr lang="en-US" b="true" sz="5001" spc="-210">
                <a:solidFill>
                  <a:srgbClr val="FFFFFF"/>
                </a:solidFill>
                <a:latin typeface="Arial MT Pro Bold"/>
                <a:ea typeface="Arial MT Pro Bold"/>
                <a:cs typeface="Arial MT Pro Bold"/>
                <a:sym typeface="Arial MT Pro Bold"/>
              </a:rPr>
              <a:t>Activité &amp; Classes</a:t>
            </a:r>
          </a:p>
        </p:txBody>
      </p:sp>
      <p:sp>
        <p:nvSpPr>
          <p:cNvPr name="TextBox 16" id="16"/>
          <p:cNvSpPr txBox="true"/>
          <p:nvPr/>
        </p:nvSpPr>
        <p:spPr>
          <a:xfrm rot="0">
            <a:off x="11477408" y="2182549"/>
            <a:ext cx="4545081" cy="880611"/>
          </a:xfrm>
          <a:prstGeom prst="rect">
            <a:avLst/>
          </a:prstGeom>
        </p:spPr>
        <p:txBody>
          <a:bodyPr anchor="t" rtlCol="false" tIns="0" lIns="0" bIns="0" rIns="0">
            <a:spAutoFit/>
          </a:bodyPr>
          <a:lstStyle/>
          <a:p>
            <a:pPr algn="l" marL="0" indent="0" lvl="0">
              <a:lnSpc>
                <a:spcPts val="2307"/>
              </a:lnSpc>
            </a:pPr>
            <a:r>
              <a:rPr lang="en-US" sz="1451">
                <a:solidFill>
                  <a:srgbClr val="FFFFFF"/>
                </a:solidFill>
                <a:latin typeface="Arial MT Pro"/>
                <a:ea typeface="Arial MT Pro"/>
                <a:cs typeface="Arial MT Pro"/>
                <a:sym typeface="Arial MT Pro"/>
              </a:rPr>
              <a:t>Les diagrammes UML illustrent la logique applicative et l'organisation structurelle de MoviesApp pour une compréhension claire du système.</a:t>
            </a:r>
          </a:p>
        </p:txBody>
      </p:sp>
      <p:grpSp>
        <p:nvGrpSpPr>
          <p:cNvPr name="Group 17" id="17"/>
          <p:cNvGrpSpPr/>
          <p:nvPr/>
        </p:nvGrpSpPr>
        <p:grpSpPr>
          <a:xfrm rot="0">
            <a:off x="11477408" y="3875664"/>
            <a:ext cx="4545081" cy="1509786"/>
            <a:chOff x="0" y="0"/>
            <a:chExt cx="1185649" cy="393849"/>
          </a:xfrm>
        </p:grpSpPr>
        <p:sp>
          <p:nvSpPr>
            <p:cNvPr name="Freeform 18" id="18"/>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19" id="19"/>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grpSp>
        <p:nvGrpSpPr>
          <p:cNvPr name="Group 20" id="20"/>
          <p:cNvGrpSpPr/>
          <p:nvPr/>
        </p:nvGrpSpPr>
        <p:grpSpPr>
          <a:xfrm rot="0">
            <a:off x="11477408" y="5631234"/>
            <a:ext cx="4545081" cy="1509786"/>
            <a:chOff x="0" y="0"/>
            <a:chExt cx="1185649" cy="393849"/>
          </a:xfrm>
        </p:grpSpPr>
        <p:sp>
          <p:nvSpPr>
            <p:cNvPr name="Freeform 21" id="21"/>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2" id="22"/>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3" id="23"/>
          <p:cNvSpPr txBox="true"/>
          <p:nvPr/>
        </p:nvSpPr>
        <p:spPr>
          <a:xfrm rot="0">
            <a:off x="11963670" y="4121107"/>
            <a:ext cx="3572557" cy="880611"/>
          </a:xfrm>
          <a:prstGeom prst="rect">
            <a:avLst/>
          </a:prstGeom>
        </p:spPr>
        <p:txBody>
          <a:bodyPr anchor="t" rtlCol="false" tIns="0" lIns="0" bIns="0" rIns="0">
            <a:spAutoFit/>
          </a:bodyPr>
          <a:lstStyle/>
          <a:p>
            <a:pPr algn="l" marL="313360" indent="-156680" lvl="1">
              <a:lnSpc>
                <a:spcPts val="2307"/>
              </a:lnSpc>
              <a:buAutoNum type="arabicPeriod" startAt="1"/>
            </a:pPr>
            <a:r>
              <a:rPr lang="en-US" sz="1451">
                <a:solidFill>
                  <a:srgbClr val="FFFFFF"/>
                </a:solidFill>
                <a:latin typeface="Arial MT Pro"/>
                <a:ea typeface="Arial MT Pro"/>
                <a:cs typeface="Arial MT Pro"/>
                <a:sym typeface="Arial MT Pro"/>
              </a:rPr>
              <a:t>Diagramme d'Activité</a:t>
            </a:r>
          </a:p>
          <a:p>
            <a:pPr algn="l" marL="313360" indent="-156680" lvl="1">
              <a:lnSpc>
                <a:spcPts val="2307"/>
              </a:lnSpc>
              <a:buAutoNum type="arabicPeriod" startAt="1"/>
            </a:pPr>
            <a:r>
              <a:rPr lang="en-US" sz="1451">
                <a:solidFill>
                  <a:srgbClr val="FFFFFF"/>
                </a:solidFill>
                <a:latin typeface="Arial MT Pro"/>
                <a:ea typeface="Arial MT Pro"/>
                <a:cs typeface="Arial MT Pro"/>
                <a:sym typeface="Arial MT Pro"/>
              </a:rPr>
              <a:t>Flux utilisateur : recherche de film → consultation détails → ajout aux favoris.</a:t>
            </a:r>
          </a:p>
        </p:txBody>
      </p:sp>
      <p:sp>
        <p:nvSpPr>
          <p:cNvPr name="TextBox 24" id="24"/>
          <p:cNvSpPr txBox="true"/>
          <p:nvPr/>
        </p:nvSpPr>
        <p:spPr>
          <a:xfrm rot="0">
            <a:off x="11963670" y="5858426"/>
            <a:ext cx="3572557" cy="880611"/>
          </a:xfrm>
          <a:prstGeom prst="rect">
            <a:avLst/>
          </a:prstGeom>
        </p:spPr>
        <p:txBody>
          <a:bodyPr anchor="t" rtlCol="false" tIns="0" lIns="0" bIns="0" rIns="0">
            <a:spAutoFit/>
          </a:bodyPr>
          <a:lstStyle/>
          <a:p>
            <a:pPr algn="l" marL="313360" indent="-156680" lvl="1">
              <a:lnSpc>
                <a:spcPts val="2307"/>
              </a:lnSpc>
              <a:buAutoNum type="arabicPeriod" startAt="1"/>
            </a:pPr>
            <a:r>
              <a:rPr lang="en-US" sz="1451">
                <a:solidFill>
                  <a:srgbClr val="FFFFFF"/>
                </a:solidFill>
                <a:latin typeface="Arial MT Pro"/>
                <a:ea typeface="Arial MT Pro"/>
                <a:cs typeface="Arial MT Pro"/>
                <a:sym typeface="Arial MT Pro"/>
              </a:rPr>
              <a:t>Classes Principales</a:t>
            </a:r>
          </a:p>
          <a:p>
            <a:pPr algn="l" marL="313360" indent="-156680" lvl="1">
              <a:lnSpc>
                <a:spcPts val="2307"/>
              </a:lnSpc>
              <a:buAutoNum type="arabicPeriod" startAt="1"/>
            </a:pPr>
            <a:r>
              <a:rPr lang="en-US" sz="1451">
                <a:solidFill>
                  <a:srgbClr val="FFFFFF"/>
                </a:solidFill>
                <a:latin typeface="Arial MT Pro"/>
                <a:ea typeface="Arial MT Pro"/>
                <a:cs typeface="Arial MT Pro"/>
                <a:sym typeface="Arial MT Pro"/>
              </a:rPr>
              <a:t>Film, Utilisateur, Chatbot, Carte avec leurs attributs et méthodes essentiels.</a:t>
            </a:r>
          </a:p>
        </p:txBody>
      </p:sp>
      <p:grpSp>
        <p:nvGrpSpPr>
          <p:cNvPr name="Group 25" id="25"/>
          <p:cNvGrpSpPr/>
          <p:nvPr/>
        </p:nvGrpSpPr>
        <p:grpSpPr>
          <a:xfrm rot="0">
            <a:off x="11477408" y="7386803"/>
            <a:ext cx="4545081" cy="1509786"/>
            <a:chOff x="0" y="0"/>
            <a:chExt cx="1185649" cy="393849"/>
          </a:xfrm>
        </p:grpSpPr>
        <p:sp>
          <p:nvSpPr>
            <p:cNvPr name="Freeform 26" id="26"/>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7" id="27"/>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8" id="28"/>
          <p:cNvSpPr txBox="true"/>
          <p:nvPr/>
        </p:nvSpPr>
        <p:spPr>
          <a:xfrm rot="0">
            <a:off x="11963670" y="7654918"/>
            <a:ext cx="3572557" cy="880611"/>
          </a:xfrm>
          <a:prstGeom prst="rect">
            <a:avLst/>
          </a:prstGeom>
        </p:spPr>
        <p:txBody>
          <a:bodyPr anchor="t" rtlCol="false" tIns="0" lIns="0" bIns="0" rIns="0">
            <a:spAutoFit/>
          </a:bodyPr>
          <a:lstStyle/>
          <a:p>
            <a:pPr algn="l" marL="313360" indent="-156680" lvl="1">
              <a:lnSpc>
                <a:spcPts val="2307"/>
              </a:lnSpc>
              <a:buAutoNum type="arabicPeriod" startAt="1"/>
            </a:pPr>
            <a:r>
              <a:rPr lang="en-US" sz="1451">
                <a:solidFill>
                  <a:srgbClr val="FFFFFF"/>
                </a:solidFill>
                <a:latin typeface="Arial MT Pro"/>
                <a:ea typeface="Arial MT Pro"/>
                <a:cs typeface="Arial MT Pro"/>
                <a:sym typeface="Arial MT Pro"/>
              </a:rPr>
              <a:t>Relations &amp; Interactions</a:t>
            </a:r>
          </a:p>
          <a:p>
            <a:pPr algn="l" marL="313360" indent="-156680" lvl="1">
              <a:lnSpc>
                <a:spcPts val="2307"/>
              </a:lnSpc>
              <a:buAutoNum type="arabicPeriod" startAt="1"/>
            </a:pPr>
            <a:r>
              <a:rPr lang="en-US" sz="1451">
                <a:solidFill>
                  <a:srgbClr val="FFFFFF"/>
                </a:solidFill>
                <a:latin typeface="Arial MT Pro"/>
                <a:ea typeface="Arial MT Pro"/>
                <a:cs typeface="Arial MT Pro"/>
                <a:sym typeface="Arial MT Pro"/>
              </a:rPr>
              <a:t>Associations entre classes pour gérer favoris, historique et géolocalisation.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2001" y="805429"/>
            <a:ext cx="499539" cy="572506"/>
          </a:xfrm>
          <a:custGeom>
            <a:avLst/>
            <a:gdLst/>
            <a:ahLst/>
            <a:cxnLst/>
            <a:rect r="r" b="b" t="t" l="l"/>
            <a:pathLst>
              <a:path h="572506" w="499539">
                <a:moveTo>
                  <a:pt x="0" y="0"/>
                </a:moveTo>
                <a:lnTo>
                  <a:pt x="499540" y="0"/>
                </a:lnTo>
                <a:lnTo>
                  <a:pt x="499540" y="572506"/>
                </a:lnTo>
                <a:lnTo>
                  <a:pt x="0" y="572506"/>
                </a:lnTo>
                <a:lnTo>
                  <a:pt x="0" y="0"/>
                </a:lnTo>
                <a:close/>
              </a:path>
            </a:pathLst>
          </a:custGeom>
          <a:blipFill>
            <a:blip r:embed="rId2"/>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054482" y="5598730"/>
            <a:ext cx="7089518" cy="3309700"/>
            <a:chOff x="0" y="0"/>
            <a:chExt cx="1867198" cy="871690"/>
          </a:xfrm>
        </p:grpSpPr>
        <p:sp>
          <p:nvSpPr>
            <p:cNvPr name="Freeform 7" id="7"/>
            <p:cNvSpPr/>
            <p:nvPr/>
          </p:nvSpPr>
          <p:spPr>
            <a:xfrm flipH="false" flipV="false" rot="0">
              <a:off x="0" y="0"/>
              <a:ext cx="1867198" cy="871690"/>
            </a:xfrm>
            <a:custGeom>
              <a:avLst/>
              <a:gdLst/>
              <a:ahLst/>
              <a:cxnLst/>
              <a:rect r="r" b="b" t="t" l="l"/>
              <a:pathLst>
                <a:path h="871690" w="1867198">
                  <a:moveTo>
                    <a:pt x="41497" y="0"/>
                  </a:moveTo>
                  <a:lnTo>
                    <a:pt x="1825701" y="0"/>
                  </a:lnTo>
                  <a:cubicBezTo>
                    <a:pt x="1836707" y="0"/>
                    <a:pt x="1847262" y="4372"/>
                    <a:pt x="1855044" y="12154"/>
                  </a:cubicBezTo>
                  <a:cubicBezTo>
                    <a:pt x="1862826" y="19936"/>
                    <a:pt x="1867198" y="30491"/>
                    <a:pt x="1867198" y="41497"/>
                  </a:cubicBezTo>
                  <a:lnTo>
                    <a:pt x="1867198" y="830194"/>
                  </a:lnTo>
                  <a:cubicBezTo>
                    <a:pt x="1867198" y="853112"/>
                    <a:pt x="1848620" y="871690"/>
                    <a:pt x="1825701" y="871690"/>
                  </a:cubicBezTo>
                  <a:lnTo>
                    <a:pt x="41497" y="871690"/>
                  </a:lnTo>
                  <a:cubicBezTo>
                    <a:pt x="30491" y="871690"/>
                    <a:pt x="19936" y="867318"/>
                    <a:pt x="12154" y="859536"/>
                  </a:cubicBezTo>
                  <a:cubicBezTo>
                    <a:pt x="4372" y="851754"/>
                    <a:pt x="0" y="841199"/>
                    <a:pt x="0" y="830194"/>
                  </a:cubicBezTo>
                  <a:lnTo>
                    <a:pt x="0" y="41497"/>
                  </a:lnTo>
                  <a:cubicBezTo>
                    <a:pt x="0" y="30491"/>
                    <a:pt x="4372" y="19936"/>
                    <a:pt x="12154" y="12154"/>
                  </a:cubicBezTo>
                  <a:cubicBezTo>
                    <a:pt x="19936" y="4372"/>
                    <a:pt x="30491" y="0"/>
                    <a:pt x="41497" y="0"/>
                  </a:cubicBezTo>
                  <a:close/>
                </a:path>
              </a:pathLst>
            </a:custGeom>
            <a:solidFill>
              <a:srgbClr val="202127"/>
            </a:solidFill>
          </p:spPr>
        </p:sp>
        <p:sp>
          <p:nvSpPr>
            <p:cNvPr name="TextBox 8" id="8"/>
            <p:cNvSpPr txBox="true"/>
            <p:nvPr/>
          </p:nvSpPr>
          <p:spPr>
            <a:xfrm>
              <a:off x="0" y="19050"/>
              <a:ext cx="1867198" cy="852640"/>
            </a:xfrm>
            <a:prstGeom prst="rect">
              <a:avLst/>
            </a:prstGeom>
          </p:spPr>
          <p:txBody>
            <a:bodyPr anchor="ctr" rtlCol="false" tIns="50800" lIns="50800" bIns="50800" rIns="50800"/>
            <a:lstStyle/>
            <a:p>
              <a:pPr algn="ctr" marL="0" indent="0" lvl="0">
                <a:lnSpc>
                  <a:spcPts val="1387"/>
                </a:lnSpc>
              </a:pPr>
            </a:p>
          </p:txBody>
        </p:sp>
      </p:grpSp>
      <p:grpSp>
        <p:nvGrpSpPr>
          <p:cNvPr name="Group 9" id="9"/>
          <p:cNvGrpSpPr/>
          <p:nvPr/>
        </p:nvGrpSpPr>
        <p:grpSpPr>
          <a:xfrm rot="0">
            <a:off x="9439465" y="7136779"/>
            <a:ext cx="6583024" cy="1771650"/>
            <a:chOff x="0" y="0"/>
            <a:chExt cx="1733800" cy="466607"/>
          </a:xfrm>
        </p:grpSpPr>
        <p:sp>
          <p:nvSpPr>
            <p:cNvPr name="Freeform 10" id="10"/>
            <p:cNvSpPr/>
            <p:nvPr/>
          </p:nvSpPr>
          <p:spPr>
            <a:xfrm flipH="false" flipV="false" rot="0">
              <a:off x="0" y="0"/>
              <a:ext cx="1733801" cy="466607"/>
            </a:xfrm>
            <a:custGeom>
              <a:avLst/>
              <a:gdLst/>
              <a:ahLst/>
              <a:cxnLst/>
              <a:rect r="r" b="b" t="t" l="l"/>
              <a:pathLst>
                <a:path h="466607" w="1733801">
                  <a:moveTo>
                    <a:pt x="44690" y="0"/>
                  </a:moveTo>
                  <a:lnTo>
                    <a:pt x="1689111" y="0"/>
                  </a:lnTo>
                  <a:cubicBezTo>
                    <a:pt x="1713792" y="0"/>
                    <a:pt x="1733801" y="20008"/>
                    <a:pt x="1733801" y="44690"/>
                  </a:cubicBezTo>
                  <a:lnTo>
                    <a:pt x="1733801" y="421918"/>
                  </a:lnTo>
                  <a:cubicBezTo>
                    <a:pt x="1733801" y="433770"/>
                    <a:pt x="1729092" y="445137"/>
                    <a:pt x="1720711" y="453518"/>
                  </a:cubicBezTo>
                  <a:cubicBezTo>
                    <a:pt x="1712330" y="461899"/>
                    <a:pt x="1700963" y="466607"/>
                    <a:pt x="1689111" y="466607"/>
                  </a:cubicBezTo>
                  <a:lnTo>
                    <a:pt x="44690" y="466607"/>
                  </a:lnTo>
                  <a:cubicBezTo>
                    <a:pt x="32837" y="466607"/>
                    <a:pt x="21470" y="461899"/>
                    <a:pt x="13089" y="453518"/>
                  </a:cubicBezTo>
                  <a:cubicBezTo>
                    <a:pt x="4708" y="445137"/>
                    <a:pt x="0" y="433770"/>
                    <a:pt x="0" y="421918"/>
                  </a:cubicBezTo>
                  <a:lnTo>
                    <a:pt x="0" y="44690"/>
                  </a:lnTo>
                  <a:cubicBezTo>
                    <a:pt x="0" y="32837"/>
                    <a:pt x="4708" y="21470"/>
                    <a:pt x="13089" y="13089"/>
                  </a:cubicBezTo>
                  <a:cubicBezTo>
                    <a:pt x="21470" y="4708"/>
                    <a:pt x="32837" y="0"/>
                    <a:pt x="44690" y="0"/>
                  </a:cubicBezTo>
                  <a:close/>
                </a:path>
              </a:pathLst>
            </a:custGeom>
            <a:gradFill rotWithShape="true">
              <a:gsLst>
                <a:gs pos="0">
                  <a:srgbClr val="0C4A5B">
                    <a:alpha val="100000"/>
                  </a:srgbClr>
                </a:gs>
                <a:gs pos="100000">
                  <a:srgbClr val="27DDDF">
                    <a:alpha val="100000"/>
                  </a:srgbClr>
                </a:gs>
              </a:gsLst>
              <a:lin ang="2700000"/>
            </a:gradFill>
          </p:spPr>
        </p:sp>
        <p:sp>
          <p:nvSpPr>
            <p:cNvPr name="TextBox 11" id="11"/>
            <p:cNvSpPr txBox="true"/>
            <p:nvPr/>
          </p:nvSpPr>
          <p:spPr>
            <a:xfrm>
              <a:off x="0" y="19050"/>
              <a:ext cx="1733800" cy="447557"/>
            </a:xfrm>
            <a:prstGeom prst="rect">
              <a:avLst/>
            </a:prstGeom>
          </p:spPr>
          <p:txBody>
            <a:bodyPr anchor="ctr" rtlCol="false" tIns="50800" lIns="50800" bIns="50800" rIns="50800"/>
            <a:lstStyle/>
            <a:p>
              <a:pPr algn="ctr" marL="0" indent="0" lvl="0">
                <a:lnSpc>
                  <a:spcPts val="1387"/>
                </a:lnSpc>
              </a:pPr>
            </a:p>
          </p:txBody>
        </p:sp>
      </p:grpSp>
      <p:grpSp>
        <p:nvGrpSpPr>
          <p:cNvPr name="Group 12" id="12"/>
          <p:cNvGrpSpPr/>
          <p:nvPr/>
        </p:nvGrpSpPr>
        <p:grpSpPr>
          <a:xfrm rot="0">
            <a:off x="9439465" y="2343150"/>
            <a:ext cx="6583024" cy="4515361"/>
            <a:chOff x="0" y="0"/>
            <a:chExt cx="1733800" cy="1189231"/>
          </a:xfrm>
        </p:grpSpPr>
        <p:sp>
          <p:nvSpPr>
            <p:cNvPr name="Freeform 13" id="13"/>
            <p:cNvSpPr/>
            <p:nvPr/>
          </p:nvSpPr>
          <p:spPr>
            <a:xfrm flipH="false" flipV="false" rot="0">
              <a:off x="0" y="0"/>
              <a:ext cx="1733801" cy="1189231"/>
            </a:xfrm>
            <a:custGeom>
              <a:avLst/>
              <a:gdLst/>
              <a:ahLst/>
              <a:cxnLst/>
              <a:rect r="r" b="b" t="t" l="l"/>
              <a:pathLst>
                <a:path h="1189231" w="1733801">
                  <a:moveTo>
                    <a:pt x="44690" y="0"/>
                  </a:moveTo>
                  <a:lnTo>
                    <a:pt x="1689111" y="0"/>
                  </a:lnTo>
                  <a:cubicBezTo>
                    <a:pt x="1713792" y="0"/>
                    <a:pt x="1733801" y="20008"/>
                    <a:pt x="1733801" y="44690"/>
                  </a:cubicBezTo>
                  <a:lnTo>
                    <a:pt x="1733801" y="1144541"/>
                  </a:lnTo>
                  <a:cubicBezTo>
                    <a:pt x="1733801" y="1156394"/>
                    <a:pt x="1729092" y="1167761"/>
                    <a:pt x="1720711" y="1176141"/>
                  </a:cubicBezTo>
                  <a:cubicBezTo>
                    <a:pt x="1712330" y="1184522"/>
                    <a:pt x="1700963" y="1189231"/>
                    <a:pt x="1689111" y="1189231"/>
                  </a:cubicBezTo>
                  <a:lnTo>
                    <a:pt x="44690" y="1189231"/>
                  </a:lnTo>
                  <a:cubicBezTo>
                    <a:pt x="32837" y="1189231"/>
                    <a:pt x="21470" y="1184522"/>
                    <a:pt x="13089" y="1176141"/>
                  </a:cubicBezTo>
                  <a:cubicBezTo>
                    <a:pt x="4708" y="1167761"/>
                    <a:pt x="0" y="1156394"/>
                    <a:pt x="0" y="1144541"/>
                  </a:cubicBezTo>
                  <a:lnTo>
                    <a:pt x="0" y="44690"/>
                  </a:lnTo>
                  <a:cubicBezTo>
                    <a:pt x="0" y="32837"/>
                    <a:pt x="4708" y="21470"/>
                    <a:pt x="13089" y="13089"/>
                  </a:cubicBezTo>
                  <a:cubicBezTo>
                    <a:pt x="21470" y="4708"/>
                    <a:pt x="32837" y="0"/>
                    <a:pt x="44690" y="0"/>
                  </a:cubicBezTo>
                  <a:close/>
                </a:path>
              </a:pathLst>
            </a:custGeom>
            <a:solidFill>
              <a:srgbClr val="202127"/>
            </a:solidFill>
          </p:spPr>
        </p:sp>
        <p:sp>
          <p:nvSpPr>
            <p:cNvPr name="TextBox 14" id="14"/>
            <p:cNvSpPr txBox="true"/>
            <p:nvPr/>
          </p:nvSpPr>
          <p:spPr>
            <a:xfrm>
              <a:off x="0" y="19050"/>
              <a:ext cx="1733800" cy="1170181"/>
            </a:xfrm>
            <a:prstGeom prst="rect">
              <a:avLst/>
            </a:prstGeom>
          </p:spPr>
          <p:txBody>
            <a:bodyPr anchor="ctr" rtlCol="false" tIns="50800" lIns="50800" bIns="50800" rIns="50800"/>
            <a:lstStyle/>
            <a:p>
              <a:pPr algn="ctr" marL="0" indent="0" lvl="0">
                <a:lnSpc>
                  <a:spcPts val="1387"/>
                </a:lnSpc>
              </a:pPr>
            </a:p>
          </p:txBody>
        </p:sp>
      </p:grpSp>
      <p:grpSp>
        <p:nvGrpSpPr>
          <p:cNvPr name="Group 15" id="15"/>
          <p:cNvGrpSpPr/>
          <p:nvPr/>
        </p:nvGrpSpPr>
        <p:grpSpPr>
          <a:xfrm rot="0">
            <a:off x="2744875" y="6038363"/>
            <a:ext cx="675884" cy="67588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sp>
        <p:sp>
          <p:nvSpPr>
            <p:cNvPr name="TextBox 17" id="17"/>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18" id="18"/>
          <p:cNvSpPr/>
          <p:nvPr/>
        </p:nvSpPr>
        <p:spPr>
          <a:xfrm flipH="false" flipV="false" rot="0">
            <a:off x="2880679" y="5978592"/>
            <a:ext cx="408175" cy="794969"/>
          </a:xfrm>
          <a:custGeom>
            <a:avLst/>
            <a:gdLst/>
            <a:ahLst/>
            <a:cxnLst/>
            <a:rect r="r" b="b" t="t" l="l"/>
            <a:pathLst>
              <a:path h="794969" w="408175">
                <a:moveTo>
                  <a:pt x="0" y="0"/>
                </a:moveTo>
                <a:lnTo>
                  <a:pt x="408175" y="0"/>
                </a:lnTo>
                <a:lnTo>
                  <a:pt x="408175" y="794969"/>
                </a:lnTo>
                <a:lnTo>
                  <a:pt x="0" y="794969"/>
                </a:lnTo>
                <a:lnTo>
                  <a:pt x="0" y="0"/>
                </a:lnTo>
                <a:close/>
              </a:path>
            </a:pathLst>
          </a:custGeom>
          <a:blipFill>
            <a:blip r:embed="rId3"/>
            <a:stretch>
              <a:fillRect l="0" t="0" r="0" b="0"/>
            </a:stretch>
          </a:blipFill>
        </p:spPr>
      </p:sp>
      <p:grpSp>
        <p:nvGrpSpPr>
          <p:cNvPr name="Group 19" id="19"/>
          <p:cNvGrpSpPr/>
          <p:nvPr/>
        </p:nvGrpSpPr>
        <p:grpSpPr>
          <a:xfrm rot="0">
            <a:off x="10179697" y="2826730"/>
            <a:ext cx="675884" cy="67588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DDDF"/>
            </a:solidFill>
          </p:spPr>
        </p:sp>
        <p:sp>
          <p:nvSpPr>
            <p:cNvPr name="TextBox 21" id="21"/>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22" id="22"/>
          <p:cNvSpPr/>
          <p:nvPr/>
        </p:nvSpPr>
        <p:spPr>
          <a:xfrm flipH="false" flipV="false" rot="0">
            <a:off x="10181885" y="2930390"/>
            <a:ext cx="698451" cy="416762"/>
          </a:xfrm>
          <a:custGeom>
            <a:avLst/>
            <a:gdLst/>
            <a:ahLst/>
            <a:cxnLst/>
            <a:rect r="r" b="b" t="t" l="l"/>
            <a:pathLst>
              <a:path h="416762" w="698451">
                <a:moveTo>
                  <a:pt x="0" y="0"/>
                </a:moveTo>
                <a:lnTo>
                  <a:pt x="698451" y="0"/>
                </a:lnTo>
                <a:lnTo>
                  <a:pt x="698451" y="416762"/>
                </a:lnTo>
                <a:lnTo>
                  <a:pt x="0" y="416762"/>
                </a:lnTo>
                <a:lnTo>
                  <a:pt x="0" y="0"/>
                </a:lnTo>
                <a:close/>
              </a:path>
            </a:pathLst>
          </a:custGeom>
          <a:blipFill>
            <a:blip r:embed="rId4"/>
            <a:stretch>
              <a:fillRect l="0" t="0" r="0" b="0"/>
            </a:stretch>
          </a:blipFill>
        </p:spPr>
      </p:sp>
      <p:sp>
        <p:nvSpPr>
          <p:cNvPr name="Freeform 23" id="23"/>
          <p:cNvSpPr/>
          <p:nvPr/>
        </p:nvSpPr>
        <p:spPr>
          <a:xfrm flipH="false" flipV="false" rot="0">
            <a:off x="13303952" y="7546025"/>
            <a:ext cx="1790688" cy="1845908"/>
          </a:xfrm>
          <a:custGeom>
            <a:avLst/>
            <a:gdLst/>
            <a:ahLst/>
            <a:cxnLst/>
            <a:rect r="r" b="b" t="t" l="l"/>
            <a:pathLst>
              <a:path h="1845908" w="1790688">
                <a:moveTo>
                  <a:pt x="0" y="0"/>
                </a:moveTo>
                <a:lnTo>
                  <a:pt x="1790689" y="0"/>
                </a:lnTo>
                <a:lnTo>
                  <a:pt x="1790689" y="1845908"/>
                </a:lnTo>
                <a:lnTo>
                  <a:pt x="0" y="1845908"/>
                </a:lnTo>
                <a:lnTo>
                  <a:pt x="0" y="0"/>
                </a:lnTo>
                <a:close/>
              </a:path>
            </a:pathLst>
          </a:custGeom>
          <a:blipFill>
            <a:blip r:embed="rId5"/>
            <a:stretch>
              <a:fillRect l="0" t="0" r="0" b="0"/>
            </a:stretch>
          </a:blipFill>
        </p:spPr>
      </p:sp>
      <p:sp>
        <p:nvSpPr>
          <p:cNvPr name="TextBox 24" id="24"/>
          <p:cNvSpPr txBox="true"/>
          <p:nvPr/>
        </p:nvSpPr>
        <p:spPr>
          <a:xfrm rot="0">
            <a:off x="1795032" y="901877"/>
            <a:ext cx="1302079" cy="208752"/>
          </a:xfrm>
          <a:prstGeom prst="rect">
            <a:avLst/>
          </a:prstGeom>
        </p:spPr>
        <p:txBody>
          <a:bodyPr anchor="t" rtlCol="false" tIns="0" lIns="0" bIns="0" rIns="0">
            <a:spAutoFit/>
          </a:bodyPr>
          <a:lstStyle/>
          <a:p>
            <a:pPr algn="l" marL="0" indent="0" lvl="0">
              <a:lnSpc>
                <a:spcPts val="1209"/>
              </a:lnSpc>
            </a:pPr>
            <a:r>
              <a:rPr lang="en-US" b="true" sz="1374" spc="-21">
                <a:solidFill>
                  <a:srgbClr val="FFFFFF"/>
                </a:solidFill>
                <a:latin typeface="Arial MT Pro Bold"/>
                <a:ea typeface="Arial MT Pro Bold"/>
                <a:cs typeface="Arial MT Pro Bold"/>
                <a:sym typeface="Arial MT Pro Bold"/>
              </a:rPr>
              <a:t>MoviesApp</a:t>
            </a:r>
          </a:p>
        </p:txBody>
      </p:sp>
      <p:sp>
        <p:nvSpPr>
          <p:cNvPr name="TextBox 25" id="25"/>
          <p:cNvSpPr txBox="true"/>
          <p:nvPr/>
        </p:nvSpPr>
        <p:spPr>
          <a:xfrm rot="0">
            <a:off x="13923200" y="911402"/>
            <a:ext cx="3002725"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EMSI 2025-2026</a:t>
            </a:r>
          </a:p>
        </p:txBody>
      </p:sp>
      <p:sp>
        <p:nvSpPr>
          <p:cNvPr name="TextBox 26" id="26"/>
          <p:cNvSpPr txBox="true"/>
          <p:nvPr/>
        </p:nvSpPr>
        <p:spPr>
          <a:xfrm rot="0">
            <a:off x="13179026" y="911402"/>
            <a:ext cx="1136202"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Architecture</a:t>
            </a:r>
          </a:p>
        </p:txBody>
      </p:sp>
      <p:sp>
        <p:nvSpPr>
          <p:cNvPr name="TextBox 27" id="27"/>
          <p:cNvSpPr txBox="true"/>
          <p:nvPr/>
        </p:nvSpPr>
        <p:spPr>
          <a:xfrm rot="0">
            <a:off x="11721551" y="911402"/>
            <a:ext cx="811975"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10/18</a:t>
            </a:r>
          </a:p>
        </p:txBody>
      </p:sp>
      <p:sp>
        <p:nvSpPr>
          <p:cNvPr name="TextBox 28" id="28"/>
          <p:cNvSpPr txBox="true"/>
          <p:nvPr/>
        </p:nvSpPr>
        <p:spPr>
          <a:xfrm rot="0">
            <a:off x="2054482" y="2243800"/>
            <a:ext cx="7089518" cy="599186"/>
          </a:xfrm>
          <a:prstGeom prst="rect">
            <a:avLst/>
          </a:prstGeom>
        </p:spPr>
        <p:txBody>
          <a:bodyPr anchor="t" rtlCol="false" tIns="0" lIns="0" bIns="0" rIns="0">
            <a:spAutoFit/>
          </a:bodyPr>
          <a:lstStyle/>
          <a:p>
            <a:pPr algn="l" marL="0" indent="0" lvl="0">
              <a:lnSpc>
                <a:spcPts val="3975"/>
              </a:lnSpc>
            </a:pPr>
            <a:r>
              <a:rPr lang="en-US" b="true" sz="3822" spc="-160">
                <a:solidFill>
                  <a:srgbClr val="FFFFFF"/>
                </a:solidFill>
                <a:latin typeface="Arial MT Pro Bold"/>
                <a:ea typeface="Arial MT Pro Bold"/>
                <a:cs typeface="Arial MT Pro Bold"/>
                <a:sym typeface="Arial MT Pro Bold"/>
              </a:rPr>
              <a:t>Architecture Technique</a:t>
            </a:r>
          </a:p>
        </p:txBody>
      </p:sp>
      <p:sp>
        <p:nvSpPr>
          <p:cNvPr name="TextBox 29" id="29"/>
          <p:cNvSpPr txBox="true"/>
          <p:nvPr/>
        </p:nvSpPr>
        <p:spPr>
          <a:xfrm rot="0">
            <a:off x="2744875" y="6990446"/>
            <a:ext cx="873958" cy="380262"/>
          </a:xfrm>
          <a:prstGeom prst="rect">
            <a:avLst/>
          </a:prstGeom>
        </p:spPr>
        <p:txBody>
          <a:bodyPr anchor="t" rtlCol="false" tIns="0" lIns="0" bIns="0" rIns="0">
            <a:spAutoFit/>
          </a:bodyPr>
          <a:lstStyle/>
          <a:p>
            <a:pPr algn="l" marL="0" indent="0" lvl="0">
              <a:lnSpc>
                <a:spcPts val="1361"/>
              </a:lnSpc>
            </a:pPr>
            <a:r>
              <a:rPr lang="en-US" b="true" sz="1309" spc="-54">
                <a:solidFill>
                  <a:srgbClr val="FFFFFF"/>
                </a:solidFill>
                <a:latin typeface="Arial MT Pro Bold"/>
                <a:ea typeface="Arial MT Pro Bold"/>
                <a:cs typeface="Arial MT Pro Bold"/>
                <a:sym typeface="Arial MT Pro Bold"/>
              </a:rPr>
              <a:t>Client Android</a:t>
            </a:r>
          </a:p>
        </p:txBody>
      </p:sp>
      <p:sp>
        <p:nvSpPr>
          <p:cNvPr name="TextBox 30" id="30"/>
          <p:cNvSpPr txBox="true"/>
          <p:nvPr/>
        </p:nvSpPr>
        <p:spPr>
          <a:xfrm rot="0">
            <a:off x="10179697" y="3779779"/>
            <a:ext cx="1134758" cy="208195"/>
          </a:xfrm>
          <a:prstGeom prst="rect">
            <a:avLst/>
          </a:prstGeom>
        </p:spPr>
        <p:txBody>
          <a:bodyPr anchor="t" rtlCol="false" tIns="0" lIns="0" bIns="0" rIns="0">
            <a:spAutoFit/>
          </a:bodyPr>
          <a:lstStyle/>
          <a:p>
            <a:pPr algn="l" marL="0" indent="0" lvl="0">
              <a:lnSpc>
                <a:spcPts val="1361"/>
              </a:lnSpc>
            </a:pPr>
            <a:r>
              <a:rPr lang="en-US" b="true" sz="1309" spc="-54">
                <a:solidFill>
                  <a:srgbClr val="FFFFFF"/>
                </a:solidFill>
                <a:latin typeface="Arial MT Pro Bold"/>
                <a:ea typeface="Arial MT Pro Bold"/>
                <a:cs typeface="Arial MT Pro Bold"/>
                <a:sym typeface="Arial MT Pro Bold"/>
              </a:rPr>
              <a:t>Services Cloud</a:t>
            </a:r>
          </a:p>
        </p:txBody>
      </p:sp>
      <p:sp>
        <p:nvSpPr>
          <p:cNvPr name="TextBox 31" id="31"/>
          <p:cNvSpPr txBox="true"/>
          <p:nvPr/>
        </p:nvSpPr>
        <p:spPr>
          <a:xfrm rot="0">
            <a:off x="10179697" y="7664425"/>
            <a:ext cx="2851642" cy="229880"/>
          </a:xfrm>
          <a:prstGeom prst="rect">
            <a:avLst/>
          </a:prstGeom>
        </p:spPr>
        <p:txBody>
          <a:bodyPr anchor="t" rtlCol="false" tIns="0" lIns="0" bIns="0" rIns="0">
            <a:spAutoFit/>
          </a:bodyPr>
          <a:lstStyle/>
          <a:p>
            <a:pPr algn="l" marL="0" indent="0" lvl="0">
              <a:lnSpc>
                <a:spcPts val="1527"/>
              </a:lnSpc>
            </a:pPr>
            <a:r>
              <a:rPr lang="en-US" b="true" sz="1469" spc="-61">
                <a:solidFill>
                  <a:srgbClr val="FFFFFF"/>
                </a:solidFill>
                <a:latin typeface="Arial MT Pro Bold"/>
                <a:ea typeface="Arial MT Pro Bold"/>
                <a:cs typeface="Arial MT Pro Bold"/>
                <a:sym typeface="Arial MT Pro Bold"/>
              </a:rPr>
              <a:t>Intégration API &amp; Cloud</a:t>
            </a:r>
          </a:p>
        </p:txBody>
      </p:sp>
      <p:sp>
        <p:nvSpPr>
          <p:cNvPr name="TextBox 32" id="32"/>
          <p:cNvSpPr txBox="true"/>
          <p:nvPr/>
        </p:nvSpPr>
        <p:spPr>
          <a:xfrm rot="0">
            <a:off x="2744875" y="7460629"/>
            <a:ext cx="5708731" cy="436245"/>
          </a:xfrm>
          <a:prstGeom prst="rect">
            <a:avLst/>
          </a:prstGeom>
        </p:spPr>
        <p:txBody>
          <a:bodyPr anchor="t" rtlCol="false" tIns="0" lIns="0" bIns="0" rIns="0">
            <a:spAutoFit/>
          </a:bodyPr>
          <a:lstStyle/>
          <a:p>
            <a:pPr algn="l" marL="0" indent="0" lvl="0">
              <a:lnSpc>
                <a:spcPts val="1679"/>
              </a:lnSpc>
              <a:spcBef>
                <a:spcPct val="0"/>
              </a:spcBef>
            </a:pPr>
            <a:r>
              <a:rPr lang="en-US" sz="1200">
                <a:solidFill>
                  <a:srgbClr val="FFFFFF"/>
                </a:solidFill>
                <a:latin typeface="Arial MT Pro"/>
                <a:ea typeface="Arial MT Pro"/>
                <a:cs typeface="Arial MT Pro"/>
                <a:sym typeface="Arial MT Pro"/>
              </a:rPr>
              <a:t>Application Android native communiquant avec les services externes via requêtes HTTP et SDK dédiés. Architecture modulaire permettant l'évolutivité.</a:t>
            </a:r>
          </a:p>
        </p:txBody>
      </p:sp>
      <p:sp>
        <p:nvSpPr>
          <p:cNvPr name="TextBox 33" id="33"/>
          <p:cNvSpPr txBox="true"/>
          <p:nvPr/>
        </p:nvSpPr>
        <p:spPr>
          <a:xfrm rot="0">
            <a:off x="10179697" y="4249963"/>
            <a:ext cx="5102560" cy="855345"/>
          </a:xfrm>
          <a:prstGeom prst="rect">
            <a:avLst/>
          </a:prstGeom>
        </p:spPr>
        <p:txBody>
          <a:bodyPr anchor="t" rtlCol="false" tIns="0" lIns="0" bIns="0" rIns="0">
            <a:spAutoFit/>
          </a:bodyPr>
          <a:lstStyle/>
          <a:p>
            <a:pPr algn="l" marL="0" indent="0" lvl="0">
              <a:lnSpc>
                <a:spcPts val="1679"/>
              </a:lnSpc>
              <a:spcBef>
                <a:spcPct val="0"/>
              </a:spcBef>
            </a:pPr>
            <a:r>
              <a:rPr lang="en-US" sz="1200">
                <a:solidFill>
                  <a:srgbClr val="FFFFFF"/>
                </a:solidFill>
                <a:latin typeface="Arial MT Pro"/>
                <a:ea typeface="Arial MT Pro"/>
                <a:cs typeface="Arial MT Pro"/>
                <a:sym typeface="Arial MT Pro"/>
              </a:rPr>
              <a:t>TMDB API pour catalogue films et métadonnées. Firebase Authentication et Firestore pour gestion utilisateurs. Supabase Storage pour médias. Google Maps &amp; Places API pour géolocalisation cinémas. Node.js/Express hébergeant le chatbot CineBot avec traitement intelligent.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12869" y="791015"/>
            <a:ext cx="589722" cy="575040"/>
          </a:xfrm>
          <a:custGeom>
            <a:avLst/>
            <a:gdLst/>
            <a:ahLst/>
            <a:cxnLst/>
            <a:rect r="r" b="b" t="t" l="l"/>
            <a:pathLst>
              <a:path h="575040" w="589722">
                <a:moveTo>
                  <a:pt x="0" y="0"/>
                </a:moveTo>
                <a:lnTo>
                  <a:pt x="589722" y="0"/>
                </a:lnTo>
                <a:lnTo>
                  <a:pt x="589722" y="575040"/>
                </a:lnTo>
                <a:lnTo>
                  <a:pt x="0" y="575040"/>
                </a:lnTo>
                <a:lnTo>
                  <a:pt x="0" y="0"/>
                </a:lnTo>
                <a:close/>
              </a:path>
            </a:pathLst>
          </a:custGeom>
          <a:blipFill>
            <a:blip r:embed="rId2"/>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7142333" y="4220502"/>
            <a:ext cx="4003334" cy="562565"/>
            <a:chOff x="0" y="0"/>
            <a:chExt cx="2892032" cy="406400"/>
          </a:xfrm>
        </p:grpSpPr>
        <p:sp>
          <p:nvSpPr>
            <p:cNvPr name="Freeform 7" id="7"/>
            <p:cNvSpPr/>
            <p:nvPr/>
          </p:nvSpPr>
          <p:spPr>
            <a:xfrm flipH="false" flipV="false" rot="0">
              <a:off x="0" y="0"/>
              <a:ext cx="2892032" cy="406400"/>
            </a:xfrm>
            <a:custGeom>
              <a:avLst/>
              <a:gdLst/>
              <a:ahLst/>
              <a:cxnLst/>
              <a:rect r="r" b="b" t="t" l="l"/>
              <a:pathLst>
                <a:path h="406400" w="2892032">
                  <a:moveTo>
                    <a:pt x="2688832" y="0"/>
                  </a:moveTo>
                  <a:cubicBezTo>
                    <a:pt x="2801057" y="0"/>
                    <a:pt x="2892032" y="90976"/>
                    <a:pt x="2892032" y="203200"/>
                  </a:cubicBezTo>
                  <a:cubicBezTo>
                    <a:pt x="2892032" y="315424"/>
                    <a:pt x="2801057" y="406400"/>
                    <a:pt x="2688832"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8" id="8"/>
            <p:cNvSpPr txBox="true"/>
            <p:nvPr/>
          </p:nvSpPr>
          <p:spPr>
            <a:xfrm>
              <a:off x="0" y="-38100"/>
              <a:ext cx="2892032"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0" y="7724775"/>
            <a:ext cx="18288000" cy="6686550"/>
            <a:chOff x="0" y="0"/>
            <a:chExt cx="4816593" cy="1761067"/>
          </a:xfrm>
        </p:grpSpPr>
        <p:sp>
          <p:nvSpPr>
            <p:cNvPr name="Freeform 10" id="10"/>
            <p:cNvSpPr/>
            <p:nvPr/>
          </p:nvSpPr>
          <p:spPr>
            <a:xfrm flipH="false" flipV="false" rot="0">
              <a:off x="0" y="0"/>
              <a:ext cx="4816592" cy="1761067"/>
            </a:xfrm>
            <a:custGeom>
              <a:avLst/>
              <a:gdLst/>
              <a:ahLst/>
              <a:cxnLst/>
              <a:rect r="r" b="b" t="t" l="l"/>
              <a:pathLst>
                <a:path h="1761067" w="4816592">
                  <a:moveTo>
                    <a:pt x="0" y="0"/>
                  </a:moveTo>
                  <a:lnTo>
                    <a:pt x="4816592" y="0"/>
                  </a:lnTo>
                  <a:lnTo>
                    <a:pt x="4816592" y="1761067"/>
                  </a:lnTo>
                  <a:lnTo>
                    <a:pt x="0" y="1761067"/>
                  </a:lnTo>
                  <a:close/>
                </a:path>
              </a:pathLst>
            </a:custGeom>
            <a:gradFill rotWithShape="true">
              <a:gsLst>
                <a:gs pos="0">
                  <a:srgbClr val="2D2E34">
                    <a:alpha val="0"/>
                  </a:srgbClr>
                </a:gs>
                <a:gs pos="100000">
                  <a:srgbClr val="2D2E34">
                    <a:alpha val="100000"/>
                  </a:srgbClr>
                </a:gs>
              </a:gsLst>
              <a:lin ang="5400000"/>
            </a:gradFill>
          </p:spPr>
        </p:sp>
        <p:sp>
          <p:nvSpPr>
            <p:cNvPr name="TextBox 11" id="11"/>
            <p:cNvSpPr txBox="true"/>
            <p:nvPr/>
          </p:nvSpPr>
          <p:spPr>
            <a:xfrm>
              <a:off x="0" y="19050"/>
              <a:ext cx="4816593" cy="1742017"/>
            </a:xfrm>
            <a:prstGeom prst="rect">
              <a:avLst/>
            </a:prstGeom>
          </p:spPr>
          <p:txBody>
            <a:bodyPr anchor="ctr" rtlCol="false" tIns="50800" lIns="50800" bIns="50800" rIns="50800"/>
            <a:lstStyle/>
            <a:p>
              <a:pPr algn="ctr" marL="0" indent="0" lvl="0">
                <a:lnSpc>
                  <a:spcPts val="1387"/>
                </a:lnSpc>
              </a:pPr>
            </a:p>
          </p:txBody>
        </p:sp>
      </p:grpSp>
      <p:grpSp>
        <p:nvGrpSpPr>
          <p:cNvPr name="Group 12" id="12"/>
          <p:cNvGrpSpPr/>
          <p:nvPr/>
        </p:nvGrpSpPr>
        <p:grpSpPr>
          <a:xfrm rot="0">
            <a:off x="2054482" y="5463887"/>
            <a:ext cx="2546867" cy="3444543"/>
            <a:chOff x="0" y="0"/>
            <a:chExt cx="670780" cy="907205"/>
          </a:xfrm>
        </p:grpSpPr>
        <p:sp>
          <p:nvSpPr>
            <p:cNvPr name="Freeform 13" id="13"/>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gradFill rotWithShape="true">
              <a:gsLst>
                <a:gs pos="0">
                  <a:srgbClr val="0C4A5B">
                    <a:alpha val="100000"/>
                  </a:srgbClr>
                </a:gs>
                <a:gs pos="100000">
                  <a:srgbClr val="27DDDF">
                    <a:alpha val="100000"/>
                  </a:srgbClr>
                </a:gs>
              </a:gsLst>
              <a:lin ang="2700000"/>
            </a:gradFill>
          </p:spPr>
        </p:sp>
        <p:sp>
          <p:nvSpPr>
            <p:cNvPr name="TextBox 14" id="14"/>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15" id="15"/>
          <p:cNvGrpSpPr/>
          <p:nvPr/>
        </p:nvGrpSpPr>
        <p:grpSpPr>
          <a:xfrm rot="0">
            <a:off x="4911865" y="5463887"/>
            <a:ext cx="2546867" cy="3444543"/>
            <a:chOff x="0" y="0"/>
            <a:chExt cx="670780" cy="907205"/>
          </a:xfrm>
        </p:grpSpPr>
        <p:sp>
          <p:nvSpPr>
            <p:cNvPr name="Freeform 16" id="16"/>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17" id="17"/>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18" id="18"/>
          <p:cNvGrpSpPr/>
          <p:nvPr/>
        </p:nvGrpSpPr>
        <p:grpSpPr>
          <a:xfrm rot="0">
            <a:off x="7766450" y="5463887"/>
            <a:ext cx="2546867" cy="3444543"/>
            <a:chOff x="0" y="0"/>
            <a:chExt cx="670780" cy="907205"/>
          </a:xfrm>
        </p:grpSpPr>
        <p:sp>
          <p:nvSpPr>
            <p:cNvPr name="Freeform 19" id="19"/>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20" id="20"/>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21" id="21"/>
          <p:cNvGrpSpPr/>
          <p:nvPr/>
        </p:nvGrpSpPr>
        <p:grpSpPr>
          <a:xfrm rot="0">
            <a:off x="10621036" y="5463887"/>
            <a:ext cx="2546867" cy="3444543"/>
            <a:chOff x="0" y="0"/>
            <a:chExt cx="670780" cy="907205"/>
          </a:xfrm>
        </p:grpSpPr>
        <p:sp>
          <p:nvSpPr>
            <p:cNvPr name="Freeform 22" id="22"/>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23" id="23"/>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24" id="24"/>
          <p:cNvGrpSpPr/>
          <p:nvPr/>
        </p:nvGrpSpPr>
        <p:grpSpPr>
          <a:xfrm rot="0">
            <a:off x="13475621" y="5463887"/>
            <a:ext cx="2546867" cy="3444543"/>
            <a:chOff x="0" y="0"/>
            <a:chExt cx="670780" cy="907205"/>
          </a:xfrm>
        </p:grpSpPr>
        <p:sp>
          <p:nvSpPr>
            <p:cNvPr name="Freeform 25" id="25"/>
            <p:cNvSpPr/>
            <p:nvPr/>
          </p:nvSpPr>
          <p:spPr>
            <a:xfrm flipH="false" flipV="false" rot="0">
              <a:off x="0" y="0"/>
              <a:ext cx="670780" cy="907205"/>
            </a:xfrm>
            <a:custGeom>
              <a:avLst/>
              <a:gdLst/>
              <a:ahLst/>
              <a:cxnLst/>
              <a:rect r="r" b="b" t="t" l="l"/>
              <a:pathLst>
                <a:path h="907205" w="670780">
                  <a:moveTo>
                    <a:pt x="85114" y="0"/>
                  </a:moveTo>
                  <a:lnTo>
                    <a:pt x="585666" y="0"/>
                  </a:lnTo>
                  <a:cubicBezTo>
                    <a:pt x="632673" y="0"/>
                    <a:pt x="670780" y="38107"/>
                    <a:pt x="670780" y="85114"/>
                  </a:cubicBezTo>
                  <a:lnTo>
                    <a:pt x="670780" y="822091"/>
                  </a:lnTo>
                  <a:cubicBezTo>
                    <a:pt x="670780" y="869098"/>
                    <a:pt x="632673" y="907205"/>
                    <a:pt x="585666" y="907205"/>
                  </a:cubicBezTo>
                  <a:lnTo>
                    <a:pt x="85114" y="907205"/>
                  </a:lnTo>
                  <a:cubicBezTo>
                    <a:pt x="38107" y="907205"/>
                    <a:pt x="0" y="869098"/>
                    <a:pt x="0" y="822091"/>
                  </a:cubicBezTo>
                  <a:lnTo>
                    <a:pt x="0" y="85114"/>
                  </a:lnTo>
                  <a:cubicBezTo>
                    <a:pt x="0" y="38107"/>
                    <a:pt x="38107" y="0"/>
                    <a:pt x="85114" y="0"/>
                  </a:cubicBezTo>
                  <a:close/>
                </a:path>
              </a:pathLst>
            </a:custGeom>
            <a:solidFill>
              <a:srgbClr val="202127"/>
            </a:solidFill>
          </p:spPr>
        </p:sp>
        <p:sp>
          <p:nvSpPr>
            <p:cNvPr name="TextBox 26" id="26"/>
            <p:cNvSpPr txBox="true"/>
            <p:nvPr/>
          </p:nvSpPr>
          <p:spPr>
            <a:xfrm>
              <a:off x="0" y="19050"/>
              <a:ext cx="670780" cy="888155"/>
            </a:xfrm>
            <a:prstGeom prst="rect">
              <a:avLst/>
            </a:prstGeom>
          </p:spPr>
          <p:txBody>
            <a:bodyPr anchor="ctr" rtlCol="false" tIns="50800" lIns="50800" bIns="50800" rIns="50800"/>
            <a:lstStyle/>
            <a:p>
              <a:pPr algn="ctr" marL="0" indent="0" lvl="0">
                <a:lnSpc>
                  <a:spcPts val="1387"/>
                </a:lnSpc>
              </a:pPr>
            </a:p>
          </p:txBody>
        </p:sp>
      </p:grpSp>
      <p:grpSp>
        <p:nvGrpSpPr>
          <p:cNvPr name="Group 27" id="27"/>
          <p:cNvGrpSpPr/>
          <p:nvPr/>
        </p:nvGrpSpPr>
        <p:grpSpPr>
          <a:xfrm rot="0">
            <a:off x="6719937" y="8230201"/>
            <a:ext cx="422397" cy="422397"/>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29" id="29"/>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grpSp>
        <p:nvGrpSpPr>
          <p:cNvPr name="Group 30" id="30"/>
          <p:cNvGrpSpPr/>
          <p:nvPr/>
        </p:nvGrpSpPr>
        <p:grpSpPr>
          <a:xfrm rot="0">
            <a:off x="3860818" y="8230201"/>
            <a:ext cx="422397" cy="422397"/>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2" id="32"/>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grpSp>
        <p:nvGrpSpPr>
          <p:cNvPr name="Group 33" id="33"/>
          <p:cNvGrpSpPr/>
          <p:nvPr/>
        </p:nvGrpSpPr>
        <p:grpSpPr>
          <a:xfrm rot="0">
            <a:off x="9573282" y="8230201"/>
            <a:ext cx="422397" cy="42239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35" id="35"/>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36" id="36"/>
          <p:cNvSpPr/>
          <p:nvPr/>
        </p:nvSpPr>
        <p:spPr>
          <a:xfrm flipH="false" flipV="false" rot="-5400000">
            <a:off x="10548609" y="4425681"/>
            <a:ext cx="284742" cy="152208"/>
          </a:xfrm>
          <a:custGeom>
            <a:avLst/>
            <a:gdLst/>
            <a:ahLst/>
            <a:cxnLst/>
            <a:rect r="r" b="b" t="t" l="l"/>
            <a:pathLst>
              <a:path h="152208" w="284742">
                <a:moveTo>
                  <a:pt x="0" y="0"/>
                </a:moveTo>
                <a:lnTo>
                  <a:pt x="284742" y="0"/>
                </a:lnTo>
                <a:lnTo>
                  <a:pt x="284742" y="152207"/>
                </a:lnTo>
                <a:lnTo>
                  <a:pt x="0" y="1522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7" id="37"/>
          <p:cNvSpPr/>
          <p:nvPr/>
        </p:nvSpPr>
        <p:spPr>
          <a:xfrm flipH="false" flipV="false" rot="-5400000">
            <a:off x="6842841"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8" id="38"/>
          <p:cNvSpPr/>
          <p:nvPr/>
        </p:nvSpPr>
        <p:spPr>
          <a:xfrm flipH="false" flipV="false" rot="-5400000">
            <a:off x="3983723"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9" id="39"/>
          <p:cNvSpPr/>
          <p:nvPr/>
        </p:nvSpPr>
        <p:spPr>
          <a:xfrm flipH="false" flipV="false" rot="-5400000">
            <a:off x="9696187"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0" id="40"/>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41" id="41"/>
          <p:cNvSpPr txBox="true"/>
          <p:nvPr/>
        </p:nvSpPr>
        <p:spPr>
          <a:xfrm rot="0">
            <a:off x="13923200" y="920927"/>
            <a:ext cx="300272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EMSI 2025-2026</a:t>
            </a:r>
          </a:p>
        </p:txBody>
      </p:sp>
      <p:sp>
        <p:nvSpPr>
          <p:cNvPr name="TextBox 42" id="42"/>
          <p:cNvSpPr txBox="true"/>
          <p:nvPr/>
        </p:nvSpPr>
        <p:spPr>
          <a:xfrm rot="0">
            <a:off x="7571841" y="4409029"/>
            <a:ext cx="2918099" cy="255780"/>
          </a:xfrm>
          <a:prstGeom prst="rect">
            <a:avLst/>
          </a:prstGeom>
        </p:spPr>
        <p:txBody>
          <a:bodyPr anchor="t" rtlCol="false" tIns="0" lIns="0" bIns="0" rIns="0">
            <a:spAutoFit/>
          </a:bodyPr>
          <a:lstStyle/>
          <a:p>
            <a:pPr algn="l" marL="0" indent="0" lvl="0">
              <a:lnSpc>
                <a:spcPts val="1619"/>
              </a:lnSpc>
            </a:pPr>
            <a:r>
              <a:rPr lang="en-US" sz="1840">
                <a:solidFill>
                  <a:srgbClr val="FFFFFF"/>
                </a:solidFill>
                <a:latin typeface="Arial MT Pro"/>
                <a:ea typeface="Arial MT Pro"/>
                <a:cs typeface="Arial MT Pro"/>
                <a:sym typeface="Arial MT Pro"/>
              </a:rPr>
              <a:t>Technologies Utilisées</a:t>
            </a:r>
          </a:p>
        </p:txBody>
      </p:sp>
      <p:sp>
        <p:nvSpPr>
          <p:cNvPr name="TextBox 43" id="43"/>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Stack Tech</a:t>
            </a:r>
          </a:p>
        </p:txBody>
      </p:sp>
      <p:sp>
        <p:nvSpPr>
          <p:cNvPr name="TextBox 44" id="44"/>
          <p:cNvSpPr txBox="true"/>
          <p:nvPr/>
        </p:nvSpPr>
        <p:spPr>
          <a:xfrm rot="0">
            <a:off x="11721551" y="920927"/>
            <a:ext cx="81197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Outils</a:t>
            </a:r>
          </a:p>
        </p:txBody>
      </p:sp>
      <p:sp>
        <p:nvSpPr>
          <p:cNvPr name="TextBox 45" id="45"/>
          <p:cNvSpPr txBox="true"/>
          <p:nvPr/>
        </p:nvSpPr>
        <p:spPr>
          <a:xfrm rot="0">
            <a:off x="4540873" y="2567956"/>
            <a:ext cx="9206253" cy="930108"/>
          </a:xfrm>
          <a:prstGeom prst="rect">
            <a:avLst/>
          </a:prstGeom>
        </p:spPr>
        <p:txBody>
          <a:bodyPr anchor="t" rtlCol="false" tIns="0" lIns="0" bIns="0" rIns="0">
            <a:spAutoFit/>
          </a:bodyPr>
          <a:lstStyle/>
          <a:p>
            <a:pPr algn="ctr" marL="0" indent="0" lvl="0">
              <a:lnSpc>
                <a:spcPts val="2441"/>
              </a:lnSpc>
            </a:pPr>
            <a:r>
              <a:rPr lang="en-US" sz="1575">
                <a:solidFill>
                  <a:srgbClr val="FFFFFF"/>
                </a:solidFill>
                <a:latin typeface="Arial MT Pro"/>
                <a:ea typeface="Arial MT Pro"/>
                <a:cs typeface="Arial MT Pro"/>
                <a:sym typeface="Arial MT Pro"/>
              </a:rPr>
              <a:t>L'application MoviesApp s'appuie sur un ensemble de technologies modernes et robustes pour offrir une expérience utilisateur optimale. Chaque composant a été sélectionné pour sa fiabilité, ses performances et son intégration fluide avec l'écosystème Android.</a:t>
            </a:r>
          </a:p>
        </p:txBody>
      </p:sp>
      <p:sp>
        <p:nvSpPr>
          <p:cNvPr name="TextBox 46" id="46"/>
          <p:cNvSpPr txBox="true"/>
          <p:nvPr/>
        </p:nvSpPr>
        <p:spPr>
          <a:xfrm rot="0">
            <a:off x="2446072" y="6003427"/>
            <a:ext cx="1520815" cy="829221"/>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Android Studio Java &amp; XML</a:t>
            </a:r>
          </a:p>
        </p:txBody>
      </p:sp>
      <p:sp>
        <p:nvSpPr>
          <p:cNvPr name="TextBox 47" id="47"/>
          <p:cNvSpPr txBox="true"/>
          <p:nvPr/>
        </p:nvSpPr>
        <p:spPr>
          <a:xfrm rot="0">
            <a:off x="5303454" y="6003427"/>
            <a:ext cx="1758146" cy="569407"/>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Firebase Auth &amp; Firestore</a:t>
            </a:r>
          </a:p>
        </p:txBody>
      </p:sp>
      <p:sp>
        <p:nvSpPr>
          <p:cNvPr name="TextBox 48" id="48"/>
          <p:cNvSpPr txBox="true"/>
          <p:nvPr/>
        </p:nvSpPr>
        <p:spPr>
          <a:xfrm rot="0">
            <a:off x="8160837" y="6003427"/>
            <a:ext cx="1878002" cy="569407"/>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Supabase Storage</a:t>
            </a:r>
          </a:p>
        </p:txBody>
      </p:sp>
      <p:sp>
        <p:nvSpPr>
          <p:cNvPr name="TextBox 49" id="49"/>
          <p:cNvSpPr txBox="true"/>
          <p:nvPr/>
        </p:nvSpPr>
        <p:spPr>
          <a:xfrm rot="0">
            <a:off x="11018220" y="6003427"/>
            <a:ext cx="1747034" cy="569407"/>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Google Maps &amp; Places API</a:t>
            </a:r>
          </a:p>
        </p:txBody>
      </p:sp>
      <p:sp>
        <p:nvSpPr>
          <p:cNvPr name="TextBox 50" id="50"/>
          <p:cNvSpPr txBox="true"/>
          <p:nvPr/>
        </p:nvSpPr>
        <p:spPr>
          <a:xfrm rot="0">
            <a:off x="13875602" y="6003427"/>
            <a:ext cx="1520815" cy="829221"/>
          </a:xfrm>
          <a:prstGeom prst="rect">
            <a:avLst/>
          </a:prstGeom>
        </p:spPr>
        <p:txBody>
          <a:bodyPr anchor="t" rtlCol="false" tIns="0" lIns="0" bIns="0" rIns="0">
            <a:spAutoFit/>
          </a:bodyPr>
          <a:lstStyle/>
          <a:p>
            <a:pPr algn="l" marL="0" indent="0" lvl="0">
              <a:lnSpc>
                <a:spcPts val="2060"/>
              </a:lnSpc>
            </a:pPr>
            <a:r>
              <a:rPr lang="en-US" b="true" sz="1981" spc="-83">
                <a:solidFill>
                  <a:srgbClr val="FFFFFF"/>
                </a:solidFill>
                <a:latin typeface="Arial MT Pro Bold"/>
                <a:ea typeface="Arial MT Pro Bold"/>
                <a:cs typeface="Arial MT Pro Bold"/>
                <a:sym typeface="Arial MT Pro Bold"/>
              </a:rPr>
              <a:t>Node.js Express CineBot</a:t>
            </a:r>
          </a:p>
        </p:txBody>
      </p:sp>
      <p:grpSp>
        <p:nvGrpSpPr>
          <p:cNvPr name="Group 51" id="51"/>
          <p:cNvGrpSpPr/>
          <p:nvPr/>
        </p:nvGrpSpPr>
        <p:grpSpPr>
          <a:xfrm rot="0">
            <a:off x="12426627" y="8230201"/>
            <a:ext cx="422397" cy="422397"/>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53" id="53"/>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54" id="54"/>
          <p:cNvSpPr/>
          <p:nvPr/>
        </p:nvSpPr>
        <p:spPr>
          <a:xfrm flipH="false" flipV="false" rot="-5400000">
            <a:off x="12549532"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5" id="55"/>
          <p:cNvGrpSpPr/>
          <p:nvPr/>
        </p:nvGrpSpPr>
        <p:grpSpPr>
          <a:xfrm rot="0">
            <a:off x="15279973" y="8230201"/>
            <a:ext cx="422397" cy="422397"/>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 cap="sq">
              <a:solidFill>
                <a:srgbClr val="FFFFFF"/>
              </a:solidFill>
              <a:prstDash val="solid"/>
              <a:miter/>
            </a:ln>
          </p:spPr>
        </p:sp>
        <p:sp>
          <p:nvSpPr>
            <p:cNvPr name="TextBox 57" id="57"/>
            <p:cNvSpPr txBox="true"/>
            <p:nvPr/>
          </p:nvSpPr>
          <p:spPr>
            <a:xfrm>
              <a:off x="76200" y="95250"/>
              <a:ext cx="660400" cy="641350"/>
            </a:xfrm>
            <a:prstGeom prst="rect">
              <a:avLst/>
            </a:prstGeom>
          </p:spPr>
          <p:txBody>
            <a:bodyPr anchor="ctr" rtlCol="false" tIns="50800" lIns="50800" bIns="50800" rIns="50800"/>
            <a:lstStyle/>
            <a:p>
              <a:pPr algn="ctr" marL="0" indent="0" lvl="0">
                <a:lnSpc>
                  <a:spcPts val="1387"/>
                </a:lnSpc>
              </a:pPr>
            </a:p>
          </p:txBody>
        </p:sp>
      </p:grpSp>
      <p:sp>
        <p:nvSpPr>
          <p:cNvPr name="Freeform 58" id="58"/>
          <p:cNvSpPr/>
          <p:nvPr/>
        </p:nvSpPr>
        <p:spPr>
          <a:xfrm flipH="false" flipV="false" rot="-5400000">
            <a:off x="15402878" y="8384258"/>
            <a:ext cx="213796" cy="114284"/>
          </a:xfrm>
          <a:custGeom>
            <a:avLst/>
            <a:gdLst/>
            <a:ahLst/>
            <a:cxnLst/>
            <a:rect r="r" b="b" t="t" l="l"/>
            <a:pathLst>
              <a:path h="114284" w="213796">
                <a:moveTo>
                  <a:pt x="0" y="0"/>
                </a:moveTo>
                <a:lnTo>
                  <a:pt x="213796" y="0"/>
                </a:lnTo>
                <a:lnTo>
                  <a:pt x="213796" y="114283"/>
                </a:lnTo>
                <a:lnTo>
                  <a:pt x="0" y="1142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100971" y="870222"/>
            <a:ext cx="446662" cy="455778"/>
          </a:xfrm>
          <a:custGeom>
            <a:avLst/>
            <a:gdLst/>
            <a:ahLst/>
            <a:cxnLst/>
            <a:rect r="r" b="b" t="t" l="l"/>
            <a:pathLst>
              <a:path h="455778" w="446662">
                <a:moveTo>
                  <a:pt x="0" y="0"/>
                </a:moveTo>
                <a:lnTo>
                  <a:pt x="446663" y="0"/>
                </a:lnTo>
                <a:lnTo>
                  <a:pt x="446663" y="455777"/>
                </a:lnTo>
                <a:lnTo>
                  <a:pt x="0" y="455777"/>
                </a:lnTo>
                <a:lnTo>
                  <a:pt x="0" y="0"/>
                </a:lnTo>
                <a:close/>
              </a:path>
            </a:pathLst>
          </a:custGeom>
          <a:blipFill>
            <a:blip r:embed="rId2"/>
            <a:stretch>
              <a:fillRect l="0" t="0" r="0" b="0"/>
            </a:stretch>
          </a:blipFill>
        </p:spPr>
      </p:sp>
      <p:sp>
        <p:nvSpPr>
          <p:cNvPr name="TextBox 3" id="3"/>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13923200" y="911402"/>
            <a:ext cx="3002725"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@rimsakine</a:t>
            </a:r>
          </a:p>
        </p:txBody>
      </p:sp>
      <p:sp>
        <p:nvSpPr>
          <p:cNvPr name="TextBox 8" id="8"/>
          <p:cNvSpPr txBox="true"/>
          <p:nvPr/>
        </p:nvSpPr>
        <p:spPr>
          <a:xfrm rot="0">
            <a:off x="13179026" y="911402"/>
            <a:ext cx="1136202"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EMSI 2025</a:t>
            </a:r>
          </a:p>
        </p:txBody>
      </p:sp>
      <p:sp>
        <p:nvSpPr>
          <p:cNvPr name="TextBox 9" id="9"/>
          <p:cNvSpPr txBox="true"/>
          <p:nvPr/>
        </p:nvSpPr>
        <p:spPr>
          <a:xfrm rot="0">
            <a:off x="11721551" y="911402"/>
            <a:ext cx="811975"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13/18</a:t>
            </a:r>
          </a:p>
        </p:txBody>
      </p:sp>
      <p:grpSp>
        <p:nvGrpSpPr>
          <p:cNvPr name="Group 10" id="10"/>
          <p:cNvGrpSpPr/>
          <p:nvPr/>
        </p:nvGrpSpPr>
        <p:grpSpPr>
          <a:xfrm rot="0">
            <a:off x="2054482" y="2277799"/>
            <a:ext cx="8679644" cy="6630631"/>
            <a:chOff x="0" y="0"/>
            <a:chExt cx="2143421" cy="1637421"/>
          </a:xfrm>
        </p:grpSpPr>
        <p:sp>
          <p:nvSpPr>
            <p:cNvPr name="Freeform 11" id="11"/>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3"/>
              <a:stretch>
                <a:fillRect l="-1184" t="0" r="-1184" b="0"/>
              </a:stretch>
            </a:blipFill>
          </p:spPr>
        </p:sp>
      </p:grpSp>
      <p:grpSp>
        <p:nvGrpSpPr>
          <p:cNvPr name="Group 12" id="12"/>
          <p:cNvGrpSpPr/>
          <p:nvPr/>
        </p:nvGrpSpPr>
        <p:grpSpPr>
          <a:xfrm rot="0">
            <a:off x="2054482" y="4580882"/>
            <a:ext cx="8679644" cy="4327547"/>
            <a:chOff x="0" y="0"/>
            <a:chExt cx="2285997" cy="1139766"/>
          </a:xfrm>
        </p:grpSpPr>
        <p:sp>
          <p:nvSpPr>
            <p:cNvPr name="Freeform 13" id="13"/>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14" id="14"/>
            <p:cNvSpPr txBox="true"/>
            <p:nvPr/>
          </p:nvSpPr>
          <p:spPr>
            <a:xfrm>
              <a:off x="0" y="19050"/>
              <a:ext cx="2285997" cy="1120716"/>
            </a:xfrm>
            <a:prstGeom prst="rect">
              <a:avLst/>
            </a:prstGeom>
          </p:spPr>
          <p:txBody>
            <a:bodyPr anchor="ctr" rtlCol="false" tIns="50800" lIns="50800" bIns="50800" rIns="50800"/>
            <a:lstStyle/>
            <a:p>
              <a:pPr algn="ctr" marL="0" indent="0" lvl="0">
                <a:lnSpc>
                  <a:spcPts val="1387"/>
                </a:lnSpc>
              </a:pPr>
            </a:p>
          </p:txBody>
        </p:sp>
      </p:grpSp>
      <p:sp>
        <p:nvSpPr>
          <p:cNvPr name="TextBox 15" id="15"/>
          <p:cNvSpPr txBox="true"/>
          <p:nvPr/>
        </p:nvSpPr>
        <p:spPr>
          <a:xfrm rot="0">
            <a:off x="2811474" y="6716081"/>
            <a:ext cx="5036482" cy="1645232"/>
          </a:xfrm>
          <a:prstGeom prst="rect">
            <a:avLst/>
          </a:prstGeom>
        </p:spPr>
        <p:txBody>
          <a:bodyPr anchor="t" rtlCol="false" tIns="0" lIns="0" bIns="0" rIns="0">
            <a:spAutoFit/>
          </a:bodyPr>
          <a:lstStyle/>
          <a:p>
            <a:pPr algn="l" marL="0" indent="0" lvl="0">
              <a:lnSpc>
                <a:spcPts val="5913"/>
              </a:lnSpc>
            </a:pPr>
            <a:r>
              <a:rPr lang="en-US" b="true" sz="5686" spc="-238">
                <a:solidFill>
                  <a:srgbClr val="FFFFFF"/>
                </a:solidFill>
                <a:latin typeface="Arial MT Pro Bold"/>
                <a:ea typeface="Arial MT Pro Bold"/>
                <a:cs typeface="Arial MT Pro Bold"/>
                <a:sym typeface="Arial MT Pro Bold"/>
              </a:rPr>
              <a:t>Modules de l'Application</a:t>
            </a:r>
          </a:p>
        </p:txBody>
      </p:sp>
      <p:sp>
        <p:nvSpPr>
          <p:cNvPr name="TextBox 16" id="16"/>
          <p:cNvSpPr txBox="true"/>
          <p:nvPr/>
        </p:nvSpPr>
        <p:spPr>
          <a:xfrm rot="0">
            <a:off x="11477408" y="2201599"/>
            <a:ext cx="4545081" cy="731139"/>
          </a:xfrm>
          <a:prstGeom prst="rect">
            <a:avLst/>
          </a:prstGeom>
        </p:spPr>
        <p:txBody>
          <a:bodyPr anchor="t" rtlCol="false" tIns="0" lIns="0" bIns="0" rIns="0">
            <a:spAutoFit/>
          </a:bodyPr>
          <a:lstStyle/>
          <a:p>
            <a:pPr algn="l" marL="0" indent="0" lvl="0">
              <a:lnSpc>
                <a:spcPts val="1908"/>
              </a:lnSpc>
            </a:pPr>
            <a:r>
              <a:rPr lang="en-US" sz="1200">
                <a:solidFill>
                  <a:srgbClr val="FFFFFF"/>
                </a:solidFill>
                <a:latin typeface="Arial MT Pro"/>
                <a:ea typeface="Arial MT Pro"/>
                <a:cs typeface="Arial MT Pro"/>
                <a:sym typeface="Arial MT Pro"/>
              </a:rPr>
              <a:t>L'application MoviesApp est construite autour de modules indépendants et interconnectés, garantissant une architecture claire et maintenable.</a:t>
            </a:r>
          </a:p>
        </p:txBody>
      </p:sp>
      <p:grpSp>
        <p:nvGrpSpPr>
          <p:cNvPr name="Group 17" id="17"/>
          <p:cNvGrpSpPr/>
          <p:nvPr/>
        </p:nvGrpSpPr>
        <p:grpSpPr>
          <a:xfrm rot="0">
            <a:off x="11477408" y="3875664"/>
            <a:ext cx="4545081" cy="1509786"/>
            <a:chOff x="0" y="0"/>
            <a:chExt cx="1185649" cy="393849"/>
          </a:xfrm>
        </p:grpSpPr>
        <p:sp>
          <p:nvSpPr>
            <p:cNvPr name="Freeform 18" id="18"/>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19" id="19"/>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grpSp>
        <p:nvGrpSpPr>
          <p:cNvPr name="Group 20" id="20"/>
          <p:cNvGrpSpPr/>
          <p:nvPr/>
        </p:nvGrpSpPr>
        <p:grpSpPr>
          <a:xfrm rot="0">
            <a:off x="11477408" y="5631234"/>
            <a:ext cx="4545081" cy="1509786"/>
            <a:chOff x="0" y="0"/>
            <a:chExt cx="1185649" cy="393849"/>
          </a:xfrm>
        </p:grpSpPr>
        <p:sp>
          <p:nvSpPr>
            <p:cNvPr name="Freeform 21" id="21"/>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2" id="22"/>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3" id="23"/>
          <p:cNvSpPr txBox="true"/>
          <p:nvPr/>
        </p:nvSpPr>
        <p:spPr>
          <a:xfrm rot="0">
            <a:off x="11963670" y="4140157"/>
            <a:ext cx="3572557" cy="969264"/>
          </a:xfrm>
          <a:prstGeom prst="rect">
            <a:avLst/>
          </a:prstGeom>
        </p:spPr>
        <p:txBody>
          <a:bodyPr anchor="t" rtlCol="false" tIns="0" lIns="0" bIns="0" rIns="0">
            <a:spAutoFit/>
          </a:bodyPr>
          <a:lstStyle/>
          <a:p>
            <a:pPr algn="l" marL="259080" indent="-129540" lvl="1">
              <a:lnSpc>
                <a:spcPts val="1908"/>
              </a:lnSpc>
              <a:buAutoNum type="arabicPeriod" startAt="1"/>
            </a:pPr>
            <a:r>
              <a:rPr lang="en-US" sz="1200">
                <a:solidFill>
                  <a:srgbClr val="FFFFFF"/>
                </a:solidFill>
                <a:latin typeface="Arial MT Pro"/>
                <a:ea typeface="Arial MT Pro"/>
                <a:cs typeface="Arial MT Pro"/>
                <a:sym typeface="Arial MT Pro"/>
              </a:rPr>
              <a:t>Authentification &amp; Utilisateurs</a:t>
            </a:r>
          </a:p>
          <a:p>
            <a:pPr algn="l" marL="259080" indent="-129540" lvl="1">
              <a:lnSpc>
                <a:spcPts val="1908"/>
              </a:lnSpc>
              <a:buAutoNum type="arabicPeriod" startAt="1"/>
            </a:pPr>
            <a:r>
              <a:rPr lang="en-US" sz="1200">
                <a:solidFill>
                  <a:srgbClr val="FFFFFF"/>
                </a:solidFill>
                <a:latin typeface="Arial MT Pro"/>
                <a:ea typeface="Arial MT Pro"/>
                <a:cs typeface="Arial MT Pro"/>
                <a:sym typeface="Arial MT Pro"/>
              </a:rPr>
              <a:t>Gestion sécurisée des comptes via Firebase avec inscription, connexion et profil personnalisable.</a:t>
            </a:r>
          </a:p>
        </p:txBody>
      </p:sp>
      <p:sp>
        <p:nvSpPr>
          <p:cNvPr name="TextBox 24" id="24"/>
          <p:cNvSpPr txBox="true"/>
          <p:nvPr/>
        </p:nvSpPr>
        <p:spPr>
          <a:xfrm rot="0">
            <a:off x="11963670" y="5877476"/>
            <a:ext cx="3572557" cy="969264"/>
          </a:xfrm>
          <a:prstGeom prst="rect">
            <a:avLst/>
          </a:prstGeom>
        </p:spPr>
        <p:txBody>
          <a:bodyPr anchor="t" rtlCol="false" tIns="0" lIns="0" bIns="0" rIns="0">
            <a:spAutoFit/>
          </a:bodyPr>
          <a:lstStyle/>
          <a:p>
            <a:pPr algn="l" marL="259080" indent="-129540" lvl="1">
              <a:lnSpc>
                <a:spcPts val="1908"/>
              </a:lnSpc>
              <a:buAutoNum type="arabicPeriod" startAt="1"/>
            </a:pPr>
            <a:r>
              <a:rPr lang="en-US" sz="1200">
                <a:solidFill>
                  <a:srgbClr val="FFFFFF"/>
                </a:solidFill>
                <a:latin typeface="Arial MT Pro"/>
                <a:ea typeface="Arial MT Pro"/>
                <a:cs typeface="Arial MT Pro"/>
                <a:sym typeface="Arial MT Pro"/>
              </a:rPr>
              <a:t>Recherche Textuelle &amp; Vocale</a:t>
            </a:r>
          </a:p>
          <a:p>
            <a:pPr algn="l" marL="259080" indent="-129540" lvl="1">
              <a:lnSpc>
                <a:spcPts val="1908"/>
              </a:lnSpc>
              <a:buAutoNum type="arabicPeriod" startAt="1"/>
            </a:pPr>
            <a:r>
              <a:rPr lang="en-US" sz="1200">
                <a:solidFill>
                  <a:srgbClr val="FFFFFF"/>
                </a:solidFill>
                <a:latin typeface="Arial MT Pro"/>
                <a:ea typeface="Arial MT Pro"/>
                <a:cs typeface="Arial MT Pro"/>
                <a:sym typeface="Arial MT Pro"/>
              </a:rPr>
              <a:t>Module de recherche avancée permettant de trouver des films par texte ou commande vocale intuitive.</a:t>
            </a:r>
          </a:p>
        </p:txBody>
      </p:sp>
      <p:grpSp>
        <p:nvGrpSpPr>
          <p:cNvPr name="Group 25" id="25"/>
          <p:cNvGrpSpPr/>
          <p:nvPr/>
        </p:nvGrpSpPr>
        <p:grpSpPr>
          <a:xfrm rot="0">
            <a:off x="11477408" y="7386803"/>
            <a:ext cx="4545081" cy="1509786"/>
            <a:chOff x="0" y="0"/>
            <a:chExt cx="1185649" cy="393849"/>
          </a:xfrm>
        </p:grpSpPr>
        <p:sp>
          <p:nvSpPr>
            <p:cNvPr name="Freeform 26" id="26"/>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7" id="27"/>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8" id="28"/>
          <p:cNvSpPr txBox="true"/>
          <p:nvPr/>
        </p:nvSpPr>
        <p:spPr>
          <a:xfrm rot="0">
            <a:off x="11963670" y="7673968"/>
            <a:ext cx="3572557" cy="731139"/>
          </a:xfrm>
          <a:prstGeom prst="rect">
            <a:avLst/>
          </a:prstGeom>
        </p:spPr>
        <p:txBody>
          <a:bodyPr anchor="t" rtlCol="false" tIns="0" lIns="0" bIns="0" rIns="0">
            <a:spAutoFit/>
          </a:bodyPr>
          <a:lstStyle/>
          <a:p>
            <a:pPr algn="l" marL="259080" indent="-129540" lvl="1">
              <a:lnSpc>
                <a:spcPts val="1908"/>
              </a:lnSpc>
              <a:buAutoNum type="arabicPeriod" startAt="1"/>
            </a:pPr>
            <a:r>
              <a:rPr lang="en-US" sz="1200">
                <a:solidFill>
                  <a:srgbClr val="FFFFFF"/>
                </a:solidFill>
                <a:latin typeface="Arial MT Pro"/>
                <a:ea typeface="Arial MT Pro"/>
                <a:cs typeface="Arial MT Pro"/>
                <a:sym typeface="Arial MT Pro"/>
              </a:rPr>
              <a:t>Consultation Détaillée</a:t>
            </a:r>
          </a:p>
          <a:p>
            <a:pPr algn="l" marL="259080" indent="-129540" lvl="1">
              <a:lnSpc>
                <a:spcPts val="1908"/>
              </a:lnSpc>
              <a:buAutoNum type="arabicPeriod" startAt="1"/>
            </a:pPr>
            <a:r>
              <a:rPr lang="en-US" sz="1200">
                <a:solidFill>
                  <a:srgbClr val="FFFFFF"/>
                </a:solidFill>
                <a:latin typeface="Arial MT Pro"/>
                <a:ea typeface="Arial MT Pro"/>
                <a:cs typeface="Arial MT Pro"/>
                <a:sym typeface="Arial MT Pro"/>
              </a:rPr>
              <a:t>Affichage complet des informations : synopsis, casting, bande-annonce et notes des utilisateurs.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33422" y="862729"/>
            <a:ext cx="588284" cy="511807"/>
          </a:xfrm>
          <a:custGeom>
            <a:avLst/>
            <a:gdLst/>
            <a:ahLst/>
            <a:cxnLst/>
            <a:rect r="r" b="b" t="t" l="l"/>
            <a:pathLst>
              <a:path h="511807" w="588284">
                <a:moveTo>
                  <a:pt x="0" y="0"/>
                </a:moveTo>
                <a:lnTo>
                  <a:pt x="588285" y="0"/>
                </a:lnTo>
                <a:lnTo>
                  <a:pt x="588285" y="511808"/>
                </a:lnTo>
                <a:lnTo>
                  <a:pt x="0" y="511808"/>
                </a:lnTo>
                <a:lnTo>
                  <a:pt x="0" y="0"/>
                </a:lnTo>
                <a:close/>
              </a:path>
            </a:pathLst>
          </a:custGeom>
          <a:blipFill>
            <a:blip r:embed="rId2"/>
            <a:stretch>
              <a:fillRect l="0" t="0" r="0" b="0"/>
            </a:stretch>
          </a:blipFill>
        </p:spPr>
      </p:sp>
      <p:grpSp>
        <p:nvGrpSpPr>
          <p:cNvPr name="Group 3" id="3"/>
          <p:cNvGrpSpPr/>
          <p:nvPr/>
        </p:nvGrpSpPr>
        <p:grpSpPr>
          <a:xfrm rot="0">
            <a:off x="15154957" y="756844"/>
            <a:ext cx="2104343" cy="481425"/>
            <a:chOff x="0" y="0"/>
            <a:chExt cx="1776404" cy="406400"/>
          </a:xfrm>
        </p:grpSpPr>
        <p:sp>
          <p:nvSpPr>
            <p:cNvPr name="Freeform 4" id="4"/>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5" id="5"/>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054482" y="5250829"/>
            <a:ext cx="3293766" cy="3657600"/>
            <a:chOff x="0" y="0"/>
            <a:chExt cx="867494" cy="963319"/>
          </a:xfrm>
        </p:grpSpPr>
        <p:sp>
          <p:nvSpPr>
            <p:cNvPr name="Freeform 7" id="7"/>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8" id="8"/>
            <p:cNvSpPr txBox="true"/>
            <p:nvPr/>
          </p:nvSpPr>
          <p:spPr>
            <a:xfrm>
              <a:off x="0" y="19050"/>
              <a:ext cx="867494" cy="944269"/>
            </a:xfrm>
            <a:prstGeom prst="rect">
              <a:avLst/>
            </a:prstGeom>
          </p:spPr>
          <p:txBody>
            <a:bodyPr anchor="ctr" rtlCol="false" tIns="50800" lIns="50800" bIns="50800" rIns="50800"/>
            <a:lstStyle/>
            <a:p>
              <a:pPr algn="l" marL="0" indent="0" lvl="0">
                <a:lnSpc>
                  <a:spcPts val="1387"/>
                </a:lnSpc>
              </a:pPr>
            </a:p>
          </p:txBody>
        </p:sp>
      </p:grpSp>
      <p:grpSp>
        <p:nvGrpSpPr>
          <p:cNvPr name="Group 9" id="9"/>
          <p:cNvGrpSpPr/>
          <p:nvPr/>
        </p:nvGrpSpPr>
        <p:grpSpPr>
          <a:xfrm rot="0">
            <a:off x="2054482" y="2262850"/>
            <a:ext cx="10409926" cy="2638134"/>
            <a:chOff x="0" y="0"/>
            <a:chExt cx="2741709" cy="694817"/>
          </a:xfrm>
        </p:grpSpPr>
        <p:sp>
          <p:nvSpPr>
            <p:cNvPr name="Freeform 10" id="10"/>
            <p:cNvSpPr/>
            <p:nvPr/>
          </p:nvSpPr>
          <p:spPr>
            <a:xfrm flipH="false" flipV="false" rot="0">
              <a:off x="0" y="0"/>
              <a:ext cx="2741709" cy="694817"/>
            </a:xfrm>
            <a:custGeom>
              <a:avLst/>
              <a:gdLst/>
              <a:ahLst/>
              <a:cxnLst/>
              <a:rect r="r" b="b" t="t" l="l"/>
              <a:pathLst>
                <a:path h="694817" w="2741709">
                  <a:moveTo>
                    <a:pt x="26030" y="0"/>
                  </a:moveTo>
                  <a:lnTo>
                    <a:pt x="2715679" y="0"/>
                  </a:lnTo>
                  <a:cubicBezTo>
                    <a:pt x="2722583" y="0"/>
                    <a:pt x="2729204" y="2742"/>
                    <a:pt x="2734085" y="7624"/>
                  </a:cubicBezTo>
                  <a:cubicBezTo>
                    <a:pt x="2738967" y="12505"/>
                    <a:pt x="2741709" y="19126"/>
                    <a:pt x="2741709" y="26030"/>
                  </a:cubicBezTo>
                  <a:lnTo>
                    <a:pt x="2741709" y="668787"/>
                  </a:lnTo>
                  <a:cubicBezTo>
                    <a:pt x="2741709" y="683163"/>
                    <a:pt x="2730055" y="694817"/>
                    <a:pt x="2715679" y="694817"/>
                  </a:cubicBezTo>
                  <a:lnTo>
                    <a:pt x="26030" y="694817"/>
                  </a:lnTo>
                  <a:cubicBezTo>
                    <a:pt x="19126" y="694817"/>
                    <a:pt x="12505" y="692075"/>
                    <a:pt x="7624" y="687193"/>
                  </a:cubicBezTo>
                  <a:cubicBezTo>
                    <a:pt x="2742" y="682312"/>
                    <a:pt x="0" y="675691"/>
                    <a:pt x="0" y="668787"/>
                  </a:cubicBezTo>
                  <a:lnTo>
                    <a:pt x="0" y="26030"/>
                  </a:lnTo>
                  <a:cubicBezTo>
                    <a:pt x="0" y="11654"/>
                    <a:pt x="11654" y="0"/>
                    <a:pt x="26030" y="0"/>
                  </a:cubicBezTo>
                  <a:close/>
                </a:path>
              </a:pathLst>
            </a:custGeom>
            <a:gradFill rotWithShape="true">
              <a:gsLst>
                <a:gs pos="0">
                  <a:srgbClr val="0C4A5B">
                    <a:alpha val="100000"/>
                  </a:srgbClr>
                </a:gs>
                <a:gs pos="100000">
                  <a:srgbClr val="27DDDF">
                    <a:alpha val="100000"/>
                  </a:srgbClr>
                </a:gs>
              </a:gsLst>
              <a:lin ang="2700000"/>
            </a:gradFill>
          </p:spPr>
        </p:sp>
        <p:sp>
          <p:nvSpPr>
            <p:cNvPr name="TextBox 11" id="11"/>
            <p:cNvSpPr txBox="true"/>
            <p:nvPr/>
          </p:nvSpPr>
          <p:spPr>
            <a:xfrm>
              <a:off x="0" y="19050"/>
              <a:ext cx="2741709" cy="675767"/>
            </a:xfrm>
            <a:prstGeom prst="rect">
              <a:avLst/>
            </a:prstGeom>
          </p:spPr>
          <p:txBody>
            <a:bodyPr anchor="ctr" rtlCol="false" tIns="50800" lIns="50800" bIns="50800" rIns="50800"/>
            <a:lstStyle/>
            <a:p>
              <a:pPr algn="l" marL="0" indent="0" lvl="0">
                <a:lnSpc>
                  <a:spcPts val="1387"/>
                </a:lnSpc>
              </a:pPr>
            </a:p>
          </p:txBody>
        </p:sp>
      </p:grpSp>
      <p:grpSp>
        <p:nvGrpSpPr>
          <p:cNvPr name="Group 12" id="12"/>
          <p:cNvGrpSpPr/>
          <p:nvPr/>
        </p:nvGrpSpPr>
        <p:grpSpPr>
          <a:xfrm rot="0">
            <a:off x="5612562" y="5250829"/>
            <a:ext cx="3293766" cy="3657600"/>
            <a:chOff x="0" y="0"/>
            <a:chExt cx="867494" cy="963319"/>
          </a:xfrm>
        </p:grpSpPr>
        <p:sp>
          <p:nvSpPr>
            <p:cNvPr name="Freeform 13" id="13"/>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4" id="14"/>
            <p:cNvSpPr txBox="true"/>
            <p:nvPr/>
          </p:nvSpPr>
          <p:spPr>
            <a:xfrm>
              <a:off x="0" y="19050"/>
              <a:ext cx="867494" cy="944269"/>
            </a:xfrm>
            <a:prstGeom prst="rect">
              <a:avLst/>
            </a:prstGeom>
          </p:spPr>
          <p:txBody>
            <a:bodyPr anchor="ctr" rtlCol="false" tIns="50800" lIns="50800" bIns="50800" rIns="50800"/>
            <a:lstStyle/>
            <a:p>
              <a:pPr algn="l" marL="0" indent="0" lvl="0">
                <a:lnSpc>
                  <a:spcPts val="1387"/>
                </a:lnSpc>
              </a:pPr>
            </a:p>
          </p:txBody>
        </p:sp>
      </p:grpSp>
      <p:grpSp>
        <p:nvGrpSpPr>
          <p:cNvPr name="Group 15" id="15"/>
          <p:cNvGrpSpPr/>
          <p:nvPr/>
        </p:nvGrpSpPr>
        <p:grpSpPr>
          <a:xfrm rot="0">
            <a:off x="9170642" y="5250829"/>
            <a:ext cx="3293766" cy="3657600"/>
            <a:chOff x="0" y="0"/>
            <a:chExt cx="867494" cy="963319"/>
          </a:xfrm>
        </p:grpSpPr>
        <p:sp>
          <p:nvSpPr>
            <p:cNvPr name="Freeform 16" id="16"/>
            <p:cNvSpPr/>
            <p:nvPr/>
          </p:nvSpPr>
          <p:spPr>
            <a:xfrm flipH="false" flipV="false" rot="0">
              <a:off x="0" y="0"/>
              <a:ext cx="867494" cy="963319"/>
            </a:xfrm>
            <a:custGeom>
              <a:avLst/>
              <a:gdLst/>
              <a:ahLst/>
              <a:cxnLst/>
              <a:rect r="r" b="b" t="t" l="l"/>
              <a:pathLst>
                <a:path h="963319" w="867494">
                  <a:moveTo>
                    <a:pt x="82267" y="0"/>
                  </a:moveTo>
                  <a:lnTo>
                    <a:pt x="785227" y="0"/>
                  </a:lnTo>
                  <a:cubicBezTo>
                    <a:pt x="807046" y="0"/>
                    <a:pt x="827970" y="8667"/>
                    <a:pt x="843399" y="24095"/>
                  </a:cubicBezTo>
                  <a:cubicBezTo>
                    <a:pt x="858826" y="39523"/>
                    <a:pt x="867494" y="60448"/>
                    <a:pt x="867494" y="82267"/>
                  </a:cubicBezTo>
                  <a:lnTo>
                    <a:pt x="867494" y="881052"/>
                  </a:lnTo>
                  <a:cubicBezTo>
                    <a:pt x="867494" y="902870"/>
                    <a:pt x="858826" y="923795"/>
                    <a:pt x="843399" y="939223"/>
                  </a:cubicBezTo>
                  <a:cubicBezTo>
                    <a:pt x="827970" y="954651"/>
                    <a:pt x="807046" y="963319"/>
                    <a:pt x="785227" y="963319"/>
                  </a:cubicBezTo>
                  <a:lnTo>
                    <a:pt x="82267" y="963319"/>
                  </a:lnTo>
                  <a:cubicBezTo>
                    <a:pt x="60448" y="963319"/>
                    <a:pt x="39523" y="954651"/>
                    <a:pt x="24095" y="939223"/>
                  </a:cubicBezTo>
                  <a:cubicBezTo>
                    <a:pt x="8667" y="923795"/>
                    <a:pt x="0" y="902870"/>
                    <a:pt x="0" y="881052"/>
                  </a:cubicBezTo>
                  <a:lnTo>
                    <a:pt x="0" y="82267"/>
                  </a:lnTo>
                  <a:cubicBezTo>
                    <a:pt x="0" y="60448"/>
                    <a:pt x="8667" y="39523"/>
                    <a:pt x="24095" y="24095"/>
                  </a:cubicBezTo>
                  <a:cubicBezTo>
                    <a:pt x="39523" y="8667"/>
                    <a:pt x="60448" y="0"/>
                    <a:pt x="82267" y="0"/>
                  </a:cubicBezTo>
                  <a:close/>
                </a:path>
              </a:pathLst>
            </a:custGeom>
            <a:solidFill>
              <a:srgbClr val="202127"/>
            </a:solidFill>
          </p:spPr>
        </p:sp>
        <p:sp>
          <p:nvSpPr>
            <p:cNvPr name="TextBox 17" id="17"/>
            <p:cNvSpPr txBox="true"/>
            <p:nvPr/>
          </p:nvSpPr>
          <p:spPr>
            <a:xfrm>
              <a:off x="0" y="19050"/>
              <a:ext cx="867494" cy="944269"/>
            </a:xfrm>
            <a:prstGeom prst="rect">
              <a:avLst/>
            </a:prstGeom>
          </p:spPr>
          <p:txBody>
            <a:bodyPr anchor="ctr" rtlCol="false" tIns="50800" lIns="50800" bIns="50800" rIns="50800"/>
            <a:lstStyle/>
            <a:p>
              <a:pPr algn="l" marL="0" indent="0" lvl="0">
                <a:lnSpc>
                  <a:spcPts val="1387"/>
                </a:lnSpc>
              </a:pPr>
            </a:p>
          </p:txBody>
        </p:sp>
      </p:grpSp>
      <p:grpSp>
        <p:nvGrpSpPr>
          <p:cNvPr name="Group 18" id="18"/>
          <p:cNvGrpSpPr/>
          <p:nvPr/>
        </p:nvGrpSpPr>
        <p:grpSpPr>
          <a:xfrm rot="0">
            <a:off x="12731108" y="2277799"/>
            <a:ext cx="3291380" cy="6630631"/>
            <a:chOff x="0" y="0"/>
            <a:chExt cx="812800" cy="1637421"/>
          </a:xfrm>
        </p:grpSpPr>
        <p:sp>
          <p:nvSpPr>
            <p:cNvPr name="Freeform 19" id="19"/>
            <p:cNvSpPr/>
            <p:nvPr/>
          </p:nvSpPr>
          <p:spPr>
            <a:xfrm flipH="false" flipV="false" rot="0">
              <a:off x="0" y="0"/>
              <a:ext cx="812800" cy="1637421"/>
            </a:xfrm>
            <a:custGeom>
              <a:avLst/>
              <a:gdLst/>
              <a:ahLst/>
              <a:cxnLst/>
              <a:rect r="r" b="b" t="t" l="l"/>
              <a:pathLst>
                <a:path h="1637421" w="812800">
                  <a:moveTo>
                    <a:pt x="68213" y="0"/>
                  </a:moveTo>
                  <a:lnTo>
                    <a:pt x="744587" y="0"/>
                  </a:lnTo>
                  <a:cubicBezTo>
                    <a:pt x="782260" y="0"/>
                    <a:pt x="812800" y="30540"/>
                    <a:pt x="812800" y="68213"/>
                  </a:cubicBezTo>
                  <a:lnTo>
                    <a:pt x="812800" y="1569208"/>
                  </a:lnTo>
                  <a:cubicBezTo>
                    <a:pt x="812800" y="1606881"/>
                    <a:pt x="782260" y="1637421"/>
                    <a:pt x="744587" y="1637421"/>
                  </a:cubicBezTo>
                  <a:lnTo>
                    <a:pt x="68213" y="1637421"/>
                  </a:lnTo>
                  <a:cubicBezTo>
                    <a:pt x="50122" y="1637421"/>
                    <a:pt x="32772" y="1630235"/>
                    <a:pt x="19979" y="1617442"/>
                  </a:cubicBezTo>
                  <a:cubicBezTo>
                    <a:pt x="7187" y="1604650"/>
                    <a:pt x="0" y="1587299"/>
                    <a:pt x="0" y="1569208"/>
                  </a:cubicBezTo>
                  <a:lnTo>
                    <a:pt x="0" y="68213"/>
                  </a:lnTo>
                  <a:cubicBezTo>
                    <a:pt x="0" y="30540"/>
                    <a:pt x="30540" y="0"/>
                    <a:pt x="68213" y="0"/>
                  </a:cubicBezTo>
                  <a:close/>
                </a:path>
              </a:pathLst>
            </a:custGeom>
            <a:blipFill>
              <a:blip r:embed="rId3"/>
              <a:stretch>
                <a:fillRect l="-7414" t="0" r="-7414" b="0"/>
              </a:stretch>
            </a:blipFill>
          </p:spPr>
        </p:sp>
      </p:grpSp>
      <p:sp>
        <p:nvSpPr>
          <p:cNvPr name="TextBox 20" id="20"/>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21" id="21"/>
          <p:cNvSpPr txBox="true"/>
          <p:nvPr/>
        </p:nvSpPr>
        <p:spPr>
          <a:xfrm rot="0">
            <a:off x="13923200" y="911402"/>
            <a:ext cx="3002725"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EMSI 2025-2026</a:t>
            </a:r>
          </a:p>
        </p:txBody>
      </p:sp>
      <p:sp>
        <p:nvSpPr>
          <p:cNvPr name="TextBox 22" id="22"/>
          <p:cNvSpPr txBox="true"/>
          <p:nvPr/>
        </p:nvSpPr>
        <p:spPr>
          <a:xfrm rot="0">
            <a:off x="13179026" y="911402"/>
            <a:ext cx="1136202"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Projet</a:t>
            </a:r>
          </a:p>
        </p:txBody>
      </p:sp>
      <p:sp>
        <p:nvSpPr>
          <p:cNvPr name="TextBox 23" id="23"/>
          <p:cNvSpPr txBox="true"/>
          <p:nvPr/>
        </p:nvSpPr>
        <p:spPr>
          <a:xfrm rot="0">
            <a:off x="11721551" y="911402"/>
            <a:ext cx="811975" cy="172593"/>
          </a:xfrm>
          <a:prstGeom prst="rect">
            <a:avLst/>
          </a:prstGeom>
        </p:spPr>
        <p:txBody>
          <a:bodyPr anchor="t" rtlCol="false" tIns="0" lIns="0" bIns="0" rIns="0">
            <a:spAutoFit/>
          </a:bodyPr>
          <a:lstStyle/>
          <a:p>
            <a:pPr algn="r" marL="0" indent="0" lvl="0">
              <a:lnSpc>
                <a:spcPts val="1056"/>
              </a:lnSpc>
            </a:pPr>
            <a:r>
              <a:rPr lang="en-US" sz="1200">
                <a:solidFill>
                  <a:srgbClr val="FFFFFF"/>
                </a:solidFill>
                <a:latin typeface="Arial MT Pro"/>
                <a:ea typeface="Arial MT Pro"/>
                <a:cs typeface="Arial MT Pro"/>
                <a:sym typeface="Arial MT Pro"/>
              </a:rPr>
              <a:t>14/18</a:t>
            </a:r>
          </a:p>
        </p:txBody>
      </p:sp>
      <p:sp>
        <p:nvSpPr>
          <p:cNvPr name="TextBox 24" id="24"/>
          <p:cNvSpPr txBox="true"/>
          <p:nvPr/>
        </p:nvSpPr>
        <p:spPr>
          <a:xfrm rot="0">
            <a:off x="2583650" y="2845267"/>
            <a:ext cx="8454192" cy="1394835"/>
          </a:xfrm>
          <a:prstGeom prst="rect">
            <a:avLst/>
          </a:prstGeom>
        </p:spPr>
        <p:txBody>
          <a:bodyPr anchor="t" rtlCol="false" tIns="0" lIns="0" bIns="0" rIns="0">
            <a:spAutoFit/>
          </a:bodyPr>
          <a:lstStyle/>
          <a:p>
            <a:pPr algn="l" marL="0" indent="0" lvl="0">
              <a:lnSpc>
                <a:spcPts val="5089"/>
              </a:lnSpc>
            </a:pPr>
            <a:r>
              <a:rPr lang="en-US" b="true" sz="4893" spc="-205">
                <a:solidFill>
                  <a:srgbClr val="FFFFFF"/>
                </a:solidFill>
                <a:latin typeface="Arial MT Pro Bold"/>
                <a:ea typeface="Arial MT Pro Bold"/>
                <a:cs typeface="Arial MT Pro Bold"/>
                <a:sym typeface="Arial MT Pro Bold"/>
              </a:rPr>
              <a:t>Défis Rencontrés et Solutions Apportées</a:t>
            </a:r>
          </a:p>
        </p:txBody>
      </p:sp>
      <p:sp>
        <p:nvSpPr>
          <p:cNvPr name="TextBox 25" id="25"/>
          <p:cNvSpPr txBox="true"/>
          <p:nvPr/>
        </p:nvSpPr>
        <p:spPr>
          <a:xfrm rot="0">
            <a:off x="2583650" y="5678785"/>
            <a:ext cx="1932485" cy="592289"/>
          </a:xfrm>
          <a:prstGeom prst="rect">
            <a:avLst/>
          </a:prstGeom>
        </p:spPr>
        <p:txBody>
          <a:bodyPr anchor="t" rtlCol="false" tIns="0" lIns="0" bIns="0" rIns="0">
            <a:spAutoFit/>
          </a:bodyPr>
          <a:lstStyle/>
          <a:p>
            <a:pPr algn="l" marL="0" indent="0" lvl="0">
              <a:lnSpc>
                <a:spcPts val="2153"/>
              </a:lnSpc>
            </a:pPr>
            <a:r>
              <a:rPr lang="en-US" b="true" sz="2071" spc="-86">
                <a:solidFill>
                  <a:srgbClr val="FFFFFF"/>
                </a:solidFill>
                <a:latin typeface="Arial MT Pro Bold"/>
                <a:ea typeface="Arial MT Pro Bold"/>
                <a:cs typeface="Arial MT Pro Bold"/>
                <a:sym typeface="Arial MT Pro Bold"/>
              </a:rPr>
              <a:t>Permissions Android</a:t>
            </a:r>
          </a:p>
        </p:txBody>
      </p:sp>
      <p:sp>
        <p:nvSpPr>
          <p:cNvPr name="TextBox 26" id="26"/>
          <p:cNvSpPr txBox="true"/>
          <p:nvPr/>
        </p:nvSpPr>
        <p:spPr>
          <a:xfrm rot="0">
            <a:off x="6207254" y="5678785"/>
            <a:ext cx="1932485" cy="321949"/>
          </a:xfrm>
          <a:prstGeom prst="rect">
            <a:avLst/>
          </a:prstGeom>
        </p:spPr>
        <p:txBody>
          <a:bodyPr anchor="t" rtlCol="false" tIns="0" lIns="0" bIns="0" rIns="0">
            <a:spAutoFit/>
          </a:bodyPr>
          <a:lstStyle/>
          <a:p>
            <a:pPr algn="l" marL="0" indent="0" lvl="0">
              <a:lnSpc>
                <a:spcPts val="2153"/>
              </a:lnSpc>
            </a:pPr>
            <a:r>
              <a:rPr lang="en-US" b="true" sz="2071" spc="-86">
                <a:solidFill>
                  <a:srgbClr val="FFFFFF"/>
                </a:solidFill>
                <a:latin typeface="Arial MT Pro Bold"/>
                <a:ea typeface="Arial MT Pro Bold"/>
                <a:cs typeface="Arial MT Pro Bold"/>
                <a:sym typeface="Arial MT Pro Bold"/>
              </a:rPr>
              <a:t>Services Cloud</a:t>
            </a:r>
          </a:p>
        </p:txBody>
      </p:sp>
      <p:sp>
        <p:nvSpPr>
          <p:cNvPr name="TextBox 27" id="27"/>
          <p:cNvSpPr txBox="true"/>
          <p:nvPr/>
        </p:nvSpPr>
        <p:spPr>
          <a:xfrm rot="0">
            <a:off x="2583650" y="6799832"/>
            <a:ext cx="2104383" cy="1483995"/>
          </a:xfrm>
          <a:prstGeom prst="rect">
            <a:avLst/>
          </a:prstGeom>
        </p:spPr>
        <p:txBody>
          <a:bodyPr anchor="t" rtlCol="false" tIns="0" lIns="0" bIns="0" rIns="0">
            <a:spAutoFit/>
          </a:bodyPr>
          <a:lstStyle/>
          <a:p>
            <a:pPr algn="l" marL="0" indent="0" lvl="0">
              <a:lnSpc>
                <a:spcPts val="1679"/>
              </a:lnSpc>
              <a:spcBef>
                <a:spcPct val="0"/>
              </a:spcBef>
            </a:pPr>
            <a:r>
              <a:rPr lang="en-US" sz="1200">
                <a:solidFill>
                  <a:srgbClr val="FFFFFF"/>
                </a:solidFill>
                <a:latin typeface="Arial MT Pro"/>
                <a:ea typeface="Arial MT Pro"/>
                <a:cs typeface="Arial MT Pro"/>
                <a:sym typeface="Arial MT Pro"/>
              </a:rPr>
              <a:t>Défi : Gestion complexe des permissions caméra et localisation selon les versions Android. Solution : Implémentation de demandes dynamiques avec gestion des refus.</a:t>
            </a:r>
          </a:p>
        </p:txBody>
      </p:sp>
      <p:sp>
        <p:nvSpPr>
          <p:cNvPr name="TextBox 28" id="28"/>
          <p:cNvSpPr txBox="true"/>
          <p:nvPr/>
        </p:nvSpPr>
        <p:spPr>
          <a:xfrm rot="0">
            <a:off x="6207254" y="6799832"/>
            <a:ext cx="2104383" cy="1064895"/>
          </a:xfrm>
          <a:prstGeom prst="rect">
            <a:avLst/>
          </a:prstGeom>
        </p:spPr>
        <p:txBody>
          <a:bodyPr anchor="t" rtlCol="false" tIns="0" lIns="0" bIns="0" rIns="0">
            <a:spAutoFit/>
          </a:bodyPr>
          <a:lstStyle/>
          <a:p>
            <a:pPr algn="l" marL="0" indent="0" lvl="0">
              <a:lnSpc>
                <a:spcPts val="1679"/>
              </a:lnSpc>
              <a:spcBef>
                <a:spcPct val="0"/>
              </a:spcBef>
            </a:pPr>
            <a:r>
              <a:rPr lang="en-US" sz="1200">
                <a:solidFill>
                  <a:srgbClr val="FFFFFF"/>
                </a:solidFill>
                <a:latin typeface="Arial MT Pro"/>
                <a:ea typeface="Arial MT Pro"/>
                <a:cs typeface="Arial MT Pro"/>
                <a:sym typeface="Arial MT Pro"/>
              </a:rPr>
              <a:t>Défi : Configuration Firebase, Supabase et sécurisation des clés API sensibles. Solution : Variables d'environnement et règles de sécurité strictes.</a:t>
            </a:r>
          </a:p>
        </p:txBody>
      </p:sp>
      <p:sp>
        <p:nvSpPr>
          <p:cNvPr name="TextBox 29" id="29"/>
          <p:cNvSpPr txBox="true"/>
          <p:nvPr/>
        </p:nvSpPr>
        <p:spPr>
          <a:xfrm rot="0">
            <a:off x="9830857" y="5678785"/>
            <a:ext cx="1932485" cy="321949"/>
          </a:xfrm>
          <a:prstGeom prst="rect">
            <a:avLst/>
          </a:prstGeom>
        </p:spPr>
        <p:txBody>
          <a:bodyPr anchor="t" rtlCol="false" tIns="0" lIns="0" bIns="0" rIns="0">
            <a:spAutoFit/>
          </a:bodyPr>
          <a:lstStyle/>
          <a:p>
            <a:pPr algn="l" marL="0" indent="0" lvl="0">
              <a:lnSpc>
                <a:spcPts val="2153"/>
              </a:lnSpc>
            </a:pPr>
            <a:r>
              <a:rPr lang="en-US" b="true" sz="2071" spc="-86">
                <a:solidFill>
                  <a:srgbClr val="FFFFFF"/>
                </a:solidFill>
                <a:latin typeface="Arial MT Pro Bold"/>
                <a:ea typeface="Arial MT Pro Bold"/>
                <a:cs typeface="Arial MT Pro Bold"/>
                <a:sym typeface="Arial MT Pro Bold"/>
              </a:rPr>
              <a:t>Performances</a:t>
            </a:r>
          </a:p>
        </p:txBody>
      </p:sp>
      <p:sp>
        <p:nvSpPr>
          <p:cNvPr name="TextBox 30" id="30"/>
          <p:cNvSpPr txBox="true"/>
          <p:nvPr/>
        </p:nvSpPr>
        <p:spPr>
          <a:xfrm rot="0">
            <a:off x="9830857" y="6799832"/>
            <a:ext cx="2104383" cy="1274445"/>
          </a:xfrm>
          <a:prstGeom prst="rect">
            <a:avLst/>
          </a:prstGeom>
        </p:spPr>
        <p:txBody>
          <a:bodyPr anchor="t" rtlCol="false" tIns="0" lIns="0" bIns="0" rIns="0">
            <a:spAutoFit/>
          </a:bodyPr>
          <a:lstStyle/>
          <a:p>
            <a:pPr algn="l" marL="0" indent="0" lvl="0">
              <a:lnSpc>
                <a:spcPts val="1679"/>
              </a:lnSpc>
              <a:spcBef>
                <a:spcPct val="0"/>
              </a:spcBef>
            </a:pPr>
            <a:r>
              <a:rPr lang="en-US" sz="1200">
                <a:solidFill>
                  <a:srgbClr val="FFFFFF"/>
                </a:solidFill>
                <a:latin typeface="Arial MT Pro"/>
                <a:ea typeface="Arial MT Pro"/>
                <a:cs typeface="Arial MT Pro"/>
                <a:sym typeface="Arial MT Pro"/>
              </a:rPr>
              <a:t>Défi : Lenteurs d'affichage et bugs lors du chargement des images et données. Solution : Cache intelligent avec Glide et optimisation des requêtes réseau.</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99856" y="871298"/>
            <a:ext cx="448875" cy="453104"/>
          </a:xfrm>
          <a:custGeom>
            <a:avLst/>
            <a:gdLst/>
            <a:ahLst/>
            <a:cxnLst/>
            <a:rect r="r" b="b" t="t" l="l"/>
            <a:pathLst>
              <a:path h="453104" w="448875">
                <a:moveTo>
                  <a:pt x="0" y="0"/>
                </a:moveTo>
                <a:lnTo>
                  <a:pt x="448876" y="0"/>
                </a:lnTo>
                <a:lnTo>
                  <a:pt x="448876" y="453104"/>
                </a:lnTo>
                <a:lnTo>
                  <a:pt x="0" y="453104"/>
                </a:lnTo>
                <a:lnTo>
                  <a:pt x="0" y="0"/>
                </a:lnTo>
                <a:close/>
              </a:path>
            </a:pathLst>
          </a:custGeom>
          <a:blipFill>
            <a:blip r:embed="rId2"/>
            <a:stretch>
              <a:fillRect l="0" t="0" r="0" b="0"/>
            </a:stretch>
          </a:blipFill>
        </p:spPr>
      </p:sp>
      <p:sp>
        <p:nvSpPr>
          <p:cNvPr name="TextBox 3" id="3"/>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grpSp>
        <p:nvGrpSpPr>
          <p:cNvPr name="Group 4" id="4"/>
          <p:cNvGrpSpPr/>
          <p:nvPr/>
        </p:nvGrpSpPr>
        <p:grpSpPr>
          <a:xfrm rot="0">
            <a:off x="15154957" y="756844"/>
            <a:ext cx="2104343" cy="481425"/>
            <a:chOff x="0" y="0"/>
            <a:chExt cx="1776404" cy="406400"/>
          </a:xfrm>
        </p:grpSpPr>
        <p:sp>
          <p:nvSpPr>
            <p:cNvPr name="Freeform 5" id="5"/>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6" id="6"/>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13923200" y="901877"/>
            <a:ext cx="3002725" cy="208368"/>
          </a:xfrm>
          <a:prstGeom prst="rect">
            <a:avLst/>
          </a:prstGeom>
        </p:spPr>
        <p:txBody>
          <a:bodyPr anchor="t" rtlCol="false" tIns="0" lIns="0" bIns="0" rIns="0">
            <a:spAutoFit/>
          </a:bodyPr>
          <a:lstStyle/>
          <a:p>
            <a:pPr algn="r" marL="0" indent="0" lvl="0">
              <a:lnSpc>
                <a:spcPts val="1211"/>
              </a:lnSpc>
            </a:pPr>
            <a:r>
              <a:rPr lang="en-US" sz="1377">
                <a:solidFill>
                  <a:srgbClr val="FFFFFF"/>
                </a:solidFill>
                <a:latin typeface="Arial MT Pro"/>
                <a:ea typeface="Arial MT Pro"/>
                <a:cs typeface="Arial MT Pro"/>
                <a:sym typeface="Arial MT Pro"/>
              </a:rPr>
              <a:t>@rimsakine</a:t>
            </a:r>
          </a:p>
        </p:txBody>
      </p:sp>
      <p:sp>
        <p:nvSpPr>
          <p:cNvPr name="TextBox 8" id="8"/>
          <p:cNvSpPr txBox="true"/>
          <p:nvPr/>
        </p:nvSpPr>
        <p:spPr>
          <a:xfrm rot="0">
            <a:off x="13179026" y="901877"/>
            <a:ext cx="1136202" cy="208368"/>
          </a:xfrm>
          <a:prstGeom prst="rect">
            <a:avLst/>
          </a:prstGeom>
        </p:spPr>
        <p:txBody>
          <a:bodyPr anchor="t" rtlCol="false" tIns="0" lIns="0" bIns="0" rIns="0">
            <a:spAutoFit/>
          </a:bodyPr>
          <a:lstStyle/>
          <a:p>
            <a:pPr algn="r" marL="0" indent="0" lvl="0">
              <a:lnSpc>
                <a:spcPts val="1211"/>
              </a:lnSpc>
            </a:pPr>
            <a:r>
              <a:rPr lang="en-US" sz="1377">
                <a:solidFill>
                  <a:srgbClr val="FFFFFF"/>
                </a:solidFill>
                <a:latin typeface="Arial MT Pro"/>
                <a:ea typeface="Arial MT Pro"/>
                <a:cs typeface="Arial MT Pro"/>
                <a:sym typeface="Arial MT Pro"/>
              </a:rPr>
              <a:t>EMSI 2025</a:t>
            </a:r>
          </a:p>
        </p:txBody>
      </p:sp>
      <p:sp>
        <p:nvSpPr>
          <p:cNvPr name="TextBox 9" id="9"/>
          <p:cNvSpPr txBox="true"/>
          <p:nvPr/>
        </p:nvSpPr>
        <p:spPr>
          <a:xfrm rot="0">
            <a:off x="11721551" y="901877"/>
            <a:ext cx="811975" cy="208368"/>
          </a:xfrm>
          <a:prstGeom prst="rect">
            <a:avLst/>
          </a:prstGeom>
        </p:spPr>
        <p:txBody>
          <a:bodyPr anchor="t" rtlCol="false" tIns="0" lIns="0" bIns="0" rIns="0">
            <a:spAutoFit/>
          </a:bodyPr>
          <a:lstStyle/>
          <a:p>
            <a:pPr algn="r" marL="0" indent="0" lvl="0">
              <a:lnSpc>
                <a:spcPts val="1211"/>
              </a:lnSpc>
            </a:pPr>
            <a:r>
              <a:rPr lang="en-US" sz="1377">
                <a:solidFill>
                  <a:srgbClr val="FFFFFF"/>
                </a:solidFill>
                <a:latin typeface="Arial MT Pro"/>
                <a:ea typeface="Arial MT Pro"/>
                <a:cs typeface="Arial MT Pro"/>
                <a:sym typeface="Arial MT Pro"/>
              </a:rPr>
              <a:t>Projet</a:t>
            </a:r>
          </a:p>
        </p:txBody>
      </p:sp>
      <p:grpSp>
        <p:nvGrpSpPr>
          <p:cNvPr name="Group 10" id="10"/>
          <p:cNvGrpSpPr/>
          <p:nvPr/>
        </p:nvGrpSpPr>
        <p:grpSpPr>
          <a:xfrm rot="0">
            <a:off x="2054482" y="2277799"/>
            <a:ext cx="8679644" cy="6630631"/>
            <a:chOff x="0" y="0"/>
            <a:chExt cx="2143421" cy="1637421"/>
          </a:xfrm>
        </p:grpSpPr>
        <p:sp>
          <p:nvSpPr>
            <p:cNvPr name="Freeform 11" id="11"/>
            <p:cNvSpPr/>
            <p:nvPr/>
          </p:nvSpPr>
          <p:spPr>
            <a:xfrm flipH="false" flipV="false" rot="0">
              <a:off x="0" y="0"/>
              <a:ext cx="2143421" cy="1637421"/>
            </a:xfrm>
            <a:custGeom>
              <a:avLst/>
              <a:gdLst/>
              <a:ahLst/>
              <a:cxnLst/>
              <a:rect r="r" b="b" t="t" l="l"/>
              <a:pathLst>
                <a:path h="1637421" w="2143421">
                  <a:moveTo>
                    <a:pt x="25867" y="0"/>
                  </a:moveTo>
                  <a:lnTo>
                    <a:pt x="2117555" y="0"/>
                  </a:lnTo>
                  <a:cubicBezTo>
                    <a:pt x="2124415" y="0"/>
                    <a:pt x="2130994" y="2725"/>
                    <a:pt x="2135845" y="7576"/>
                  </a:cubicBezTo>
                  <a:cubicBezTo>
                    <a:pt x="2140696" y="12427"/>
                    <a:pt x="2143421" y="19007"/>
                    <a:pt x="2143421" y="25867"/>
                  </a:cubicBezTo>
                  <a:lnTo>
                    <a:pt x="2143421" y="1611554"/>
                  </a:lnTo>
                  <a:cubicBezTo>
                    <a:pt x="2143421" y="1618415"/>
                    <a:pt x="2140696" y="1624994"/>
                    <a:pt x="2135845" y="1629845"/>
                  </a:cubicBezTo>
                  <a:cubicBezTo>
                    <a:pt x="2130994" y="1634696"/>
                    <a:pt x="2124415" y="1637421"/>
                    <a:pt x="2117555" y="1637421"/>
                  </a:cubicBezTo>
                  <a:lnTo>
                    <a:pt x="25867" y="1637421"/>
                  </a:lnTo>
                  <a:cubicBezTo>
                    <a:pt x="19007" y="1637421"/>
                    <a:pt x="12427" y="1634696"/>
                    <a:pt x="7576" y="1629845"/>
                  </a:cubicBezTo>
                  <a:cubicBezTo>
                    <a:pt x="2725" y="1624994"/>
                    <a:pt x="0" y="1618415"/>
                    <a:pt x="0" y="1611554"/>
                  </a:cubicBezTo>
                  <a:lnTo>
                    <a:pt x="0" y="25867"/>
                  </a:lnTo>
                  <a:cubicBezTo>
                    <a:pt x="0" y="19007"/>
                    <a:pt x="2725" y="12427"/>
                    <a:pt x="7576" y="7576"/>
                  </a:cubicBezTo>
                  <a:cubicBezTo>
                    <a:pt x="12427" y="2725"/>
                    <a:pt x="19007" y="0"/>
                    <a:pt x="25867" y="0"/>
                  </a:cubicBezTo>
                  <a:close/>
                </a:path>
              </a:pathLst>
            </a:custGeom>
            <a:blipFill>
              <a:blip r:embed="rId3"/>
              <a:stretch>
                <a:fillRect l="-1184" t="0" r="-1184" b="0"/>
              </a:stretch>
            </a:blipFill>
          </p:spPr>
        </p:sp>
      </p:grpSp>
      <p:grpSp>
        <p:nvGrpSpPr>
          <p:cNvPr name="Group 12" id="12"/>
          <p:cNvGrpSpPr/>
          <p:nvPr/>
        </p:nvGrpSpPr>
        <p:grpSpPr>
          <a:xfrm rot="0">
            <a:off x="2054482" y="4580882"/>
            <a:ext cx="8679644" cy="4327547"/>
            <a:chOff x="0" y="0"/>
            <a:chExt cx="2285997" cy="1139766"/>
          </a:xfrm>
        </p:grpSpPr>
        <p:sp>
          <p:nvSpPr>
            <p:cNvPr name="Freeform 13" id="13"/>
            <p:cNvSpPr/>
            <p:nvPr/>
          </p:nvSpPr>
          <p:spPr>
            <a:xfrm flipH="false" flipV="false" rot="0">
              <a:off x="0" y="0"/>
              <a:ext cx="2285997" cy="1139766"/>
            </a:xfrm>
            <a:custGeom>
              <a:avLst/>
              <a:gdLst/>
              <a:ahLst/>
              <a:cxnLst/>
              <a:rect r="r" b="b" t="t" l="l"/>
              <a:pathLst>
                <a:path h="1139766" w="2285997">
                  <a:moveTo>
                    <a:pt x="24975" y="0"/>
                  </a:moveTo>
                  <a:lnTo>
                    <a:pt x="2261022" y="0"/>
                  </a:lnTo>
                  <a:cubicBezTo>
                    <a:pt x="2267646" y="0"/>
                    <a:pt x="2273998" y="2631"/>
                    <a:pt x="2278682" y="7315"/>
                  </a:cubicBezTo>
                  <a:cubicBezTo>
                    <a:pt x="2283366" y="11999"/>
                    <a:pt x="2285997" y="18351"/>
                    <a:pt x="2285997" y="24975"/>
                  </a:cubicBezTo>
                  <a:lnTo>
                    <a:pt x="2285997" y="1114791"/>
                  </a:lnTo>
                  <a:cubicBezTo>
                    <a:pt x="2285997" y="1121414"/>
                    <a:pt x="2283366" y="1127767"/>
                    <a:pt x="2278682" y="1132451"/>
                  </a:cubicBezTo>
                  <a:cubicBezTo>
                    <a:pt x="2273998" y="1137134"/>
                    <a:pt x="2267646" y="1139766"/>
                    <a:pt x="2261022" y="1139766"/>
                  </a:cubicBezTo>
                  <a:lnTo>
                    <a:pt x="24975" y="1139766"/>
                  </a:lnTo>
                  <a:cubicBezTo>
                    <a:pt x="18351" y="1139766"/>
                    <a:pt x="11999" y="1137134"/>
                    <a:pt x="7315" y="1132451"/>
                  </a:cubicBezTo>
                  <a:cubicBezTo>
                    <a:pt x="2631" y="1127767"/>
                    <a:pt x="0" y="1121414"/>
                    <a:pt x="0" y="1114791"/>
                  </a:cubicBezTo>
                  <a:lnTo>
                    <a:pt x="0" y="24975"/>
                  </a:lnTo>
                  <a:cubicBezTo>
                    <a:pt x="0" y="18351"/>
                    <a:pt x="2631" y="11999"/>
                    <a:pt x="7315" y="7315"/>
                  </a:cubicBezTo>
                  <a:cubicBezTo>
                    <a:pt x="11999" y="2631"/>
                    <a:pt x="18351" y="0"/>
                    <a:pt x="24975" y="0"/>
                  </a:cubicBezTo>
                  <a:close/>
                </a:path>
              </a:pathLst>
            </a:custGeom>
            <a:gradFill rotWithShape="true">
              <a:gsLst>
                <a:gs pos="0">
                  <a:srgbClr val="141519">
                    <a:alpha val="0"/>
                  </a:srgbClr>
                </a:gs>
                <a:gs pos="100000">
                  <a:srgbClr val="141519">
                    <a:alpha val="94500"/>
                  </a:srgbClr>
                </a:gs>
              </a:gsLst>
              <a:lin ang="5400000"/>
            </a:gradFill>
          </p:spPr>
        </p:sp>
        <p:sp>
          <p:nvSpPr>
            <p:cNvPr name="TextBox 14" id="14"/>
            <p:cNvSpPr txBox="true"/>
            <p:nvPr/>
          </p:nvSpPr>
          <p:spPr>
            <a:xfrm>
              <a:off x="0" y="19050"/>
              <a:ext cx="2285997" cy="1120716"/>
            </a:xfrm>
            <a:prstGeom prst="rect">
              <a:avLst/>
            </a:prstGeom>
          </p:spPr>
          <p:txBody>
            <a:bodyPr anchor="ctr" rtlCol="false" tIns="50800" lIns="50800" bIns="50800" rIns="50800"/>
            <a:lstStyle/>
            <a:p>
              <a:pPr algn="ctr" marL="0" indent="0" lvl="0">
                <a:lnSpc>
                  <a:spcPts val="1387"/>
                </a:lnSpc>
              </a:pPr>
            </a:p>
          </p:txBody>
        </p:sp>
      </p:grpSp>
      <p:sp>
        <p:nvSpPr>
          <p:cNvPr name="TextBox 15" id="15"/>
          <p:cNvSpPr txBox="true"/>
          <p:nvPr/>
        </p:nvSpPr>
        <p:spPr>
          <a:xfrm rot="0">
            <a:off x="2811474" y="6716081"/>
            <a:ext cx="5036482" cy="1645232"/>
          </a:xfrm>
          <a:prstGeom prst="rect">
            <a:avLst/>
          </a:prstGeom>
        </p:spPr>
        <p:txBody>
          <a:bodyPr anchor="t" rtlCol="false" tIns="0" lIns="0" bIns="0" rIns="0">
            <a:spAutoFit/>
          </a:bodyPr>
          <a:lstStyle/>
          <a:p>
            <a:pPr algn="l" marL="0" indent="0" lvl="0">
              <a:lnSpc>
                <a:spcPts val="5913"/>
              </a:lnSpc>
            </a:pPr>
            <a:r>
              <a:rPr lang="en-US" b="true" sz="5686" spc="-238">
                <a:solidFill>
                  <a:srgbClr val="FFFFFF"/>
                </a:solidFill>
                <a:latin typeface="Arial MT Pro Bold"/>
                <a:ea typeface="Arial MT Pro Bold"/>
                <a:cs typeface="Arial MT Pro Bold"/>
                <a:sym typeface="Arial MT Pro Bold"/>
              </a:rPr>
              <a:t>Résultats Obtenus</a:t>
            </a:r>
          </a:p>
        </p:txBody>
      </p:sp>
      <p:sp>
        <p:nvSpPr>
          <p:cNvPr name="TextBox 16" id="16"/>
          <p:cNvSpPr txBox="true"/>
          <p:nvPr/>
        </p:nvSpPr>
        <p:spPr>
          <a:xfrm rot="0">
            <a:off x="11477408" y="2192074"/>
            <a:ext cx="4545081" cy="846189"/>
          </a:xfrm>
          <a:prstGeom prst="rect">
            <a:avLst/>
          </a:prstGeom>
        </p:spPr>
        <p:txBody>
          <a:bodyPr anchor="t" rtlCol="false" tIns="0" lIns="0" bIns="0" rIns="0">
            <a:spAutoFit/>
          </a:bodyPr>
          <a:lstStyle/>
          <a:p>
            <a:pPr algn="l" marL="0" indent="0" lvl="0">
              <a:lnSpc>
                <a:spcPts val="2189"/>
              </a:lnSpc>
            </a:pPr>
            <a:r>
              <a:rPr lang="en-US" sz="1377">
                <a:solidFill>
                  <a:srgbClr val="FFFFFF"/>
                </a:solidFill>
                <a:latin typeface="Arial MT Pro"/>
                <a:ea typeface="Arial MT Pro"/>
                <a:cs typeface="Arial MT Pro"/>
                <a:sym typeface="Arial MT Pro"/>
              </a:rPr>
              <a:t>Le projet MoviesApp a atteint ses objectifs avec succès. Voici les points forts majeurs qui démontrent la qualité et la complétude de l'application livrée.</a:t>
            </a:r>
          </a:p>
        </p:txBody>
      </p:sp>
      <p:grpSp>
        <p:nvGrpSpPr>
          <p:cNvPr name="Group 17" id="17"/>
          <p:cNvGrpSpPr/>
          <p:nvPr/>
        </p:nvGrpSpPr>
        <p:grpSpPr>
          <a:xfrm rot="0">
            <a:off x="11477408" y="3875664"/>
            <a:ext cx="4545081" cy="1509786"/>
            <a:chOff x="0" y="0"/>
            <a:chExt cx="1185649" cy="393849"/>
          </a:xfrm>
        </p:grpSpPr>
        <p:sp>
          <p:nvSpPr>
            <p:cNvPr name="Freeform 18" id="18"/>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19" id="19"/>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grpSp>
        <p:nvGrpSpPr>
          <p:cNvPr name="Group 20" id="20"/>
          <p:cNvGrpSpPr/>
          <p:nvPr/>
        </p:nvGrpSpPr>
        <p:grpSpPr>
          <a:xfrm rot="0">
            <a:off x="11477408" y="5631234"/>
            <a:ext cx="4545081" cy="1509786"/>
            <a:chOff x="0" y="0"/>
            <a:chExt cx="1185649" cy="393849"/>
          </a:xfrm>
        </p:grpSpPr>
        <p:sp>
          <p:nvSpPr>
            <p:cNvPr name="Freeform 21" id="21"/>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2" id="22"/>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3" id="23"/>
          <p:cNvSpPr txBox="true"/>
          <p:nvPr/>
        </p:nvSpPr>
        <p:spPr>
          <a:xfrm rot="0">
            <a:off x="11963670" y="4130632"/>
            <a:ext cx="3572557" cy="846189"/>
          </a:xfrm>
          <a:prstGeom prst="rect">
            <a:avLst/>
          </a:prstGeom>
        </p:spPr>
        <p:txBody>
          <a:bodyPr anchor="t" rtlCol="false" tIns="0" lIns="0" bIns="0" rIns="0">
            <a:spAutoFit/>
          </a:bodyPr>
          <a:lstStyle/>
          <a:p>
            <a:pPr algn="l" marL="297328" indent="-148664" lvl="1">
              <a:lnSpc>
                <a:spcPts val="2189"/>
              </a:lnSpc>
              <a:buAutoNum type="arabicPeriod" startAt="1"/>
            </a:pPr>
            <a:r>
              <a:rPr lang="en-US" sz="1377">
                <a:solidFill>
                  <a:srgbClr val="FFFFFF"/>
                </a:solidFill>
                <a:latin typeface="Arial MT Pro"/>
                <a:ea typeface="Arial MT Pro"/>
                <a:cs typeface="Arial MT Pro"/>
                <a:sym typeface="Arial MT Pro"/>
              </a:rPr>
              <a:t>Application Complète</a:t>
            </a:r>
          </a:p>
          <a:p>
            <a:pPr algn="l" marL="297328" indent="-148664" lvl="1">
              <a:lnSpc>
                <a:spcPts val="2189"/>
              </a:lnSpc>
              <a:buAutoNum type="arabicPeriod" startAt="1"/>
            </a:pPr>
            <a:r>
              <a:rPr lang="en-US" sz="1377">
                <a:solidFill>
                  <a:srgbClr val="FFFFFF"/>
                </a:solidFill>
                <a:latin typeface="Arial MT Pro"/>
                <a:ea typeface="Arial MT Pro"/>
                <a:cs typeface="Arial MT Pro"/>
                <a:sym typeface="Arial MT Pro"/>
              </a:rPr>
              <a:t>Tous les modules fonctionnels livrés et opérationnels selon le cahier des charges.</a:t>
            </a:r>
          </a:p>
        </p:txBody>
      </p:sp>
      <p:sp>
        <p:nvSpPr>
          <p:cNvPr name="TextBox 24" id="24"/>
          <p:cNvSpPr txBox="true"/>
          <p:nvPr/>
        </p:nvSpPr>
        <p:spPr>
          <a:xfrm rot="0">
            <a:off x="11963670" y="5867951"/>
            <a:ext cx="3572557" cy="846189"/>
          </a:xfrm>
          <a:prstGeom prst="rect">
            <a:avLst/>
          </a:prstGeom>
        </p:spPr>
        <p:txBody>
          <a:bodyPr anchor="t" rtlCol="false" tIns="0" lIns="0" bIns="0" rIns="0">
            <a:spAutoFit/>
          </a:bodyPr>
          <a:lstStyle/>
          <a:p>
            <a:pPr algn="l" marL="297328" indent="-148664" lvl="1">
              <a:lnSpc>
                <a:spcPts val="2189"/>
              </a:lnSpc>
              <a:buAutoNum type="arabicPeriod" startAt="1"/>
            </a:pPr>
            <a:r>
              <a:rPr lang="en-US" sz="1377">
                <a:solidFill>
                  <a:srgbClr val="FFFFFF"/>
                </a:solidFill>
                <a:latin typeface="Arial MT Pro"/>
                <a:ea typeface="Arial MT Pro"/>
                <a:cs typeface="Arial MT Pro"/>
                <a:sym typeface="Arial MT Pro"/>
              </a:rPr>
              <a:t>Interface Fluide et Intuitive</a:t>
            </a:r>
          </a:p>
          <a:p>
            <a:pPr algn="l" marL="297328" indent="-148664" lvl="1">
              <a:lnSpc>
                <a:spcPts val="2189"/>
              </a:lnSpc>
              <a:buAutoNum type="arabicPeriod" startAt="1"/>
            </a:pPr>
            <a:r>
              <a:rPr lang="en-US" sz="1377">
                <a:solidFill>
                  <a:srgbClr val="FFFFFF"/>
                </a:solidFill>
                <a:latin typeface="Arial MT Pro"/>
                <a:ea typeface="Arial MT Pro"/>
                <a:cs typeface="Arial MT Pro"/>
                <a:sym typeface="Arial MT Pro"/>
              </a:rPr>
              <a:t>Expérience utilisateur optimisée avec navigation rapide et design moderne.</a:t>
            </a:r>
          </a:p>
        </p:txBody>
      </p:sp>
      <p:grpSp>
        <p:nvGrpSpPr>
          <p:cNvPr name="Group 25" id="25"/>
          <p:cNvGrpSpPr/>
          <p:nvPr/>
        </p:nvGrpSpPr>
        <p:grpSpPr>
          <a:xfrm rot="0">
            <a:off x="11477408" y="7386803"/>
            <a:ext cx="4545081" cy="1509786"/>
            <a:chOff x="0" y="0"/>
            <a:chExt cx="1185649" cy="393849"/>
          </a:xfrm>
        </p:grpSpPr>
        <p:sp>
          <p:nvSpPr>
            <p:cNvPr name="Freeform 26" id="26"/>
            <p:cNvSpPr/>
            <p:nvPr/>
          </p:nvSpPr>
          <p:spPr>
            <a:xfrm flipH="false" flipV="false" rot="0">
              <a:off x="0" y="0"/>
              <a:ext cx="1185649" cy="393849"/>
            </a:xfrm>
            <a:custGeom>
              <a:avLst/>
              <a:gdLst/>
              <a:ahLst/>
              <a:cxnLst/>
              <a:rect r="r" b="b" t="t" l="l"/>
              <a:pathLst>
                <a:path h="393849" w="1185649">
                  <a:moveTo>
                    <a:pt x="35771" y="0"/>
                  </a:moveTo>
                  <a:lnTo>
                    <a:pt x="1149878" y="0"/>
                  </a:lnTo>
                  <a:cubicBezTo>
                    <a:pt x="1159365" y="0"/>
                    <a:pt x="1168464" y="3769"/>
                    <a:pt x="1175172" y="10477"/>
                  </a:cubicBezTo>
                  <a:cubicBezTo>
                    <a:pt x="1181880" y="17185"/>
                    <a:pt x="1185649" y="26284"/>
                    <a:pt x="1185649" y="35771"/>
                  </a:cubicBezTo>
                  <a:lnTo>
                    <a:pt x="1185649" y="358079"/>
                  </a:lnTo>
                  <a:cubicBezTo>
                    <a:pt x="1185649" y="367565"/>
                    <a:pt x="1181880" y="376664"/>
                    <a:pt x="1175172" y="383372"/>
                  </a:cubicBezTo>
                  <a:cubicBezTo>
                    <a:pt x="1168464" y="390080"/>
                    <a:pt x="1159365" y="393849"/>
                    <a:pt x="1149878" y="393849"/>
                  </a:cubicBezTo>
                  <a:lnTo>
                    <a:pt x="35771" y="393849"/>
                  </a:lnTo>
                  <a:cubicBezTo>
                    <a:pt x="16015" y="393849"/>
                    <a:pt x="0" y="377834"/>
                    <a:pt x="0" y="358079"/>
                  </a:cubicBezTo>
                  <a:lnTo>
                    <a:pt x="0" y="35771"/>
                  </a:lnTo>
                  <a:cubicBezTo>
                    <a:pt x="0" y="26284"/>
                    <a:pt x="3769" y="17185"/>
                    <a:pt x="10477" y="10477"/>
                  </a:cubicBezTo>
                  <a:cubicBezTo>
                    <a:pt x="17185" y="3769"/>
                    <a:pt x="26284" y="0"/>
                    <a:pt x="35771" y="0"/>
                  </a:cubicBezTo>
                  <a:close/>
                </a:path>
              </a:pathLst>
            </a:custGeom>
            <a:solidFill>
              <a:srgbClr val="202127"/>
            </a:solidFill>
          </p:spPr>
        </p:sp>
        <p:sp>
          <p:nvSpPr>
            <p:cNvPr name="TextBox 27" id="27"/>
            <p:cNvSpPr txBox="true"/>
            <p:nvPr/>
          </p:nvSpPr>
          <p:spPr>
            <a:xfrm>
              <a:off x="0" y="19050"/>
              <a:ext cx="1185649" cy="374799"/>
            </a:xfrm>
            <a:prstGeom prst="rect">
              <a:avLst/>
            </a:prstGeom>
          </p:spPr>
          <p:txBody>
            <a:bodyPr anchor="ctr" rtlCol="false" tIns="50800" lIns="50800" bIns="50800" rIns="50800"/>
            <a:lstStyle/>
            <a:p>
              <a:pPr algn="ctr" marL="0" indent="0" lvl="0">
                <a:lnSpc>
                  <a:spcPts val="1387"/>
                </a:lnSpc>
              </a:pPr>
            </a:p>
          </p:txBody>
        </p:sp>
      </p:grpSp>
      <p:sp>
        <p:nvSpPr>
          <p:cNvPr name="TextBox 28" id="28"/>
          <p:cNvSpPr txBox="true"/>
          <p:nvPr/>
        </p:nvSpPr>
        <p:spPr>
          <a:xfrm rot="0">
            <a:off x="11963670" y="7664443"/>
            <a:ext cx="3572557" cy="846189"/>
          </a:xfrm>
          <a:prstGeom prst="rect">
            <a:avLst/>
          </a:prstGeom>
        </p:spPr>
        <p:txBody>
          <a:bodyPr anchor="t" rtlCol="false" tIns="0" lIns="0" bIns="0" rIns="0">
            <a:spAutoFit/>
          </a:bodyPr>
          <a:lstStyle/>
          <a:p>
            <a:pPr algn="l" marL="297328" indent="-148664" lvl="1">
              <a:lnSpc>
                <a:spcPts val="2189"/>
              </a:lnSpc>
              <a:buAutoNum type="arabicPeriod" startAt="1"/>
            </a:pPr>
            <a:r>
              <a:rPr lang="en-US" sz="1377">
                <a:solidFill>
                  <a:srgbClr val="FFFFFF"/>
                </a:solidFill>
                <a:latin typeface="Arial MT Pro"/>
                <a:ea typeface="Arial MT Pro"/>
                <a:cs typeface="Arial MT Pro"/>
                <a:sym typeface="Arial MT Pro"/>
              </a:rPr>
              <a:t>Intégration Réussie</a:t>
            </a:r>
          </a:p>
          <a:p>
            <a:pPr algn="l" marL="297328" indent="-148664" lvl="1">
              <a:lnSpc>
                <a:spcPts val="2189"/>
              </a:lnSpc>
              <a:buAutoNum type="arabicPeriod" startAt="1"/>
            </a:pPr>
            <a:r>
              <a:rPr lang="en-US" sz="1377">
                <a:solidFill>
                  <a:srgbClr val="FFFFFF"/>
                </a:solidFill>
                <a:latin typeface="Arial MT Pro"/>
                <a:ea typeface="Arial MT Pro"/>
                <a:cs typeface="Arial MT Pro"/>
                <a:sym typeface="Arial MT Pro"/>
              </a:rPr>
              <a:t>Connexion harmonieuse entre Firebase, TMDB, Google Maps et CineBot.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5112338" y="-7228893"/>
            <a:ext cx="11404113" cy="11487660"/>
          </a:xfrm>
          <a:custGeom>
            <a:avLst/>
            <a:gdLst/>
            <a:ahLst/>
            <a:cxnLst/>
            <a:rect r="r" b="b" t="t" l="l"/>
            <a:pathLst>
              <a:path h="11487660" w="11404113">
                <a:moveTo>
                  <a:pt x="0" y="0"/>
                </a:moveTo>
                <a:lnTo>
                  <a:pt x="11404113" y="0"/>
                </a:lnTo>
                <a:lnTo>
                  <a:pt x="11404113" y="11487660"/>
                </a:lnTo>
                <a:lnTo>
                  <a:pt x="0" y="11487660"/>
                </a:lnTo>
                <a:lnTo>
                  <a:pt x="0" y="0"/>
                </a:lnTo>
                <a:close/>
              </a:path>
            </a:pathLst>
          </a:custGeom>
          <a:blipFill>
            <a:blip r:embed="rId2">
              <a:alphaModFix amt="1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6913" y="872881"/>
            <a:ext cx="454816" cy="449700"/>
          </a:xfrm>
          <a:custGeom>
            <a:avLst/>
            <a:gdLst/>
            <a:ahLst/>
            <a:cxnLst/>
            <a:rect r="r" b="b" t="t" l="l"/>
            <a:pathLst>
              <a:path h="449700" w="454816">
                <a:moveTo>
                  <a:pt x="0" y="0"/>
                </a:moveTo>
                <a:lnTo>
                  <a:pt x="454816" y="0"/>
                </a:lnTo>
                <a:lnTo>
                  <a:pt x="454816" y="449700"/>
                </a:lnTo>
                <a:lnTo>
                  <a:pt x="0" y="449700"/>
                </a:lnTo>
                <a:lnTo>
                  <a:pt x="0" y="0"/>
                </a:lnTo>
                <a:close/>
              </a:path>
            </a:pathLst>
          </a:custGeom>
          <a:blipFill>
            <a:blip r:embed="rId4"/>
            <a:stretch>
              <a:fillRect l="0" t="0" r="0" b="0"/>
            </a:stretch>
          </a:blipFill>
        </p:spPr>
      </p:sp>
      <p:sp>
        <p:nvSpPr>
          <p:cNvPr name="TextBox 4" id="4"/>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grpSp>
        <p:nvGrpSpPr>
          <p:cNvPr name="Group 5" id="5"/>
          <p:cNvGrpSpPr/>
          <p:nvPr/>
        </p:nvGrpSpPr>
        <p:grpSpPr>
          <a:xfrm rot="0">
            <a:off x="15154957" y="756844"/>
            <a:ext cx="2104343" cy="481425"/>
            <a:chOff x="0" y="0"/>
            <a:chExt cx="1776404" cy="406400"/>
          </a:xfrm>
        </p:grpSpPr>
        <p:sp>
          <p:nvSpPr>
            <p:cNvPr name="Freeform 6" id="6"/>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7" id="7"/>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8" id="8"/>
          <p:cNvSpPr txBox="true"/>
          <p:nvPr/>
        </p:nvSpPr>
        <p:spPr>
          <a:xfrm rot="0">
            <a:off x="13923200" y="920927"/>
            <a:ext cx="300272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EMSI 2025-2026</a:t>
            </a:r>
          </a:p>
        </p:txBody>
      </p:sp>
      <p:sp>
        <p:nvSpPr>
          <p:cNvPr name="TextBox 9" id="9"/>
          <p:cNvSpPr txBox="true"/>
          <p:nvPr/>
        </p:nvSpPr>
        <p:spPr>
          <a:xfrm rot="0">
            <a:off x="13179026" y="920927"/>
            <a:ext cx="1136202"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Contact</a:t>
            </a:r>
          </a:p>
        </p:txBody>
      </p:sp>
      <p:sp>
        <p:nvSpPr>
          <p:cNvPr name="TextBox 10" id="10"/>
          <p:cNvSpPr txBox="true"/>
          <p:nvPr/>
        </p:nvSpPr>
        <p:spPr>
          <a:xfrm rot="0">
            <a:off x="11721551" y="920927"/>
            <a:ext cx="811975" cy="216415"/>
          </a:xfrm>
          <a:prstGeom prst="rect">
            <a:avLst/>
          </a:prstGeom>
        </p:spPr>
        <p:txBody>
          <a:bodyPr anchor="t" rtlCol="false" tIns="0" lIns="0" bIns="0" rIns="0">
            <a:spAutoFit/>
          </a:bodyPr>
          <a:lstStyle/>
          <a:p>
            <a:pPr algn="r" marL="0" indent="0" lvl="0">
              <a:lnSpc>
                <a:spcPts val="1386"/>
              </a:lnSpc>
            </a:pPr>
            <a:r>
              <a:rPr lang="en-US" sz="1575">
                <a:solidFill>
                  <a:srgbClr val="FFFFFF"/>
                </a:solidFill>
                <a:latin typeface="Arial MT Pro"/>
                <a:ea typeface="Arial MT Pro"/>
                <a:cs typeface="Arial MT Pro"/>
                <a:sym typeface="Arial MT Pro"/>
              </a:rPr>
              <a:t>Q&amp;A</a:t>
            </a:r>
          </a:p>
        </p:txBody>
      </p:sp>
      <p:sp>
        <p:nvSpPr>
          <p:cNvPr name="TextBox 11" id="11"/>
          <p:cNvSpPr txBox="true"/>
          <p:nvPr/>
        </p:nvSpPr>
        <p:spPr>
          <a:xfrm rot="0">
            <a:off x="4364800" y="2224750"/>
            <a:ext cx="9558399" cy="1505662"/>
          </a:xfrm>
          <a:prstGeom prst="rect">
            <a:avLst/>
          </a:prstGeom>
        </p:spPr>
        <p:txBody>
          <a:bodyPr anchor="t" rtlCol="false" tIns="0" lIns="0" bIns="0" rIns="0">
            <a:spAutoFit/>
          </a:bodyPr>
          <a:lstStyle/>
          <a:p>
            <a:pPr algn="ctr" marL="0" indent="0" lvl="0">
              <a:lnSpc>
                <a:spcPts val="10041"/>
              </a:lnSpc>
            </a:pPr>
            <a:r>
              <a:rPr lang="en-US" b="true" sz="9655" spc="-405">
                <a:solidFill>
                  <a:srgbClr val="FFFFFF"/>
                </a:solidFill>
                <a:latin typeface="Arial MT Pro Bold"/>
                <a:ea typeface="Arial MT Pro Bold"/>
                <a:cs typeface="Arial MT Pro Bold"/>
                <a:sym typeface="Arial MT Pro Bold"/>
              </a:rPr>
              <a:t>Merci !</a:t>
            </a:r>
          </a:p>
        </p:txBody>
      </p:sp>
      <p:grpSp>
        <p:nvGrpSpPr>
          <p:cNvPr name="Group 12" id="12"/>
          <p:cNvGrpSpPr/>
          <p:nvPr/>
        </p:nvGrpSpPr>
        <p:grpSpPr>
          <a:xfrm rot="-851681">
            <a:off x="808966" y="7541919"/>
            <a:ext cx="21825170" cy="18180272"/>
            <a:chOff x="0" y="0"/>
            <a:chExt cx="5748193" cy="4788220"/>
          </a:xfrm>
        </p:grpSpPr>
        <p:sp>
          <p:nvSpPr>
            <p:cNvPr name="Freeform 13" id="13"/>
            <p:cNvSpPr/>
            <p:nvPr/>
          </p:nvSpPr>
          <p:spPr>
            <a:xfrm flipH="false" flipV="false" rot="0">
              <a:off x="0" y="0"/>
              <a:ext cx="5748193" cy="4788220"/>
            </a:xfrm>
            <a:custGeom>
              <a:avLst/>
              <a:gdLst/>
              <a:ahLst/>
              <a:cxnLst/>
              <a:rect r="r" b="b" t="t" l="l"/>
              <a:pathLst>
                <a:path h="4788220" w="5748193">
                  <a:moveTo>
                    <a:pt x="0" y="0"/>
                  </a:moveTo>
                  <a:lnTo>
                    <a:pt x="5748193" y="0"/>
                  </a:lnTo>
                  <a:lnTo>
                    <a:pt x="5748193"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14" id="14"/>
            <p:cNvSpPr txBox="true"/>
            <p:nvPr/>
          </p:nvSpPr>
          <p:spPr>
            <a:xfrm>
              <a:off x="0" y="19050"/>
              <a:ext cx="5748193" cy="4769170"/>
            </a:xfrm>
            <a:prstGeom prst="rect">
              <a:avLst/>
            </a:prstGeom>
          </p:spPr>
          <p:txBody>
            <a:bodyPr anchor="ctr" rtlCol="false" tIns="50800" lIns="50800" bIns="50800" rIns="50800"/>
            <a:lstStyle/>
            <a:p>
              <a:pPr algn="ctr" marL="0" indent="0" lvl="0">
                <a:lnSpc>
                  <a:spcPts val="1387"/>
                </a:lnSpc>
              </a:pPr>
            </a:p>
          </p:txBody>
        </p:sp>
      </p:grpSp>
      <p:sp>
        <p:nvSpPr>
          <p:cNvPr name="TextBox 15" id="15"/>
          <p:cNvSpPr txBox="true"/>
          <p:nvPr/>
        </p:nvSpPr>
        <p:spPr>
          <a:xfrm rot="0">
            <a:off x="3549726" y="4144467"/>
            <a:ext cx="11188548" cy="2410575"/>
          </a:xfrm>
          <a:prstGeom prst="rect">
            <a:avLst/>
          </a:prstGeom>
        </p:spPr>
        <p:txBody>
          <a:bodyPr anchor="t" rtlCol="false" tIns="0" lIns="0" bIns="0" rIns="0">
            <a:spAutoFit/>
          </a:bodyPr>
          <a:lstStyle/>
          <a:p>
            <a:pPr algn="ctr" marL="0" indent="0" lvl="0">
              <a:lnSpc>
                <a:spcPts val="2709"/>
              </a:lnSpc>
            </a:pPr>
            <a:r>
              <a:rPr lang="en-US" sz="1575">
                <a:solidFill>
                  <a:srgbClr val="FFFFFF"/>
                </a:solidFill>
                <a:latin typeface="Arial MT Pro"/>
                <a:ea typeface="Arial MT Pro"/>
                <a:cs typeface="Arial MT Pro"/>
                <a:sym typeface="Arial MT Pro"/>
              </a:rPr>
              <a:t>Merci de votre attention et de l'intérêt que vous portez au projet MoviesApp. Cette application représente l'aboutissement d'un travail rigoureux combinant recherche, développement et innovation dans le domaine des applications mobiles Android.</a:t>
            </a:r>
          </a:p>
          <a:p>
            <a:pPr algn="ctr" marL="0" indent="0" lvl="0">
              <a:lnSpc>
                <a:spcPts val="2709"/>
              </a:lnSpc>
            </a:pPr>
            <a:r>
              <a:rPr lang="en-US" sz="1575">
                <a:solidFill>
                  <a:srgbClr val="FFFFFF"/>
                </a:solidFill>
                <a:latin typeface="Arial MT Pro"/>
                <a:ea typeface="Arial MT Pro"/>
                <a:cs typeface="Arial MT Pro"/>
                <a:sym typeface="Arial MT Pro"/>
              </a:rPr>
              <a:t>Je suis maintenant disponible pour répondre à toutes vos questions concernant les aspects techniques, fonctionnels ou méthodologiques de ce projet. N'hésitez pas à me solliciter pour approfondir certains points ou discuter des perspectives d'évolution.</a:t>
            </a:r>
          </a:p>
          <a:p>
            <a:pPr algn="ctr" marL="0" indent="0" lvl="0">
              <a:lnSpc>
                <a:spcPts val="2709"/>
              </a:lnSpc>
            </a:pPr>
            <a:r>
              <a:rPr lang="en-US" sz="1575">
                <a:solidFill>
                  <a:srgbClr val="FFFFFF"/>
                </a:solidFill>
                <a:latin typeface="Arial MT Pro"/>
                <a:ea typeface="Arial MT Pro"/>
                <a:cs typeface="Arial MT Pro"/>
                <a:sym typeface="Arial MT Pro"/>
              </a:rPr>
              <a:t>Vos retours et suggestions sont précieux pour continuer à améliorer cette solution. Je vous invite à échanger librement sur les fonctionnalités présentées, l'architecture technique ou les choix de conception effectués tout au long de ce projet académique.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519"/>
        </a:solidFill>
      </p:bgPr>
    </p:bg>
    <p:spTree>
      <p:nvGrpSpPr>
        <p:cNvPr id="1" name=""/>
        <p:cNvGrpSpPr/>
        <p:nvPr/>
      </p:nvGrpSpPr>
      <p:grpSpPr>
        <a:xfrm>
          <a:off x="0" y="0"/>
          <a:ext cx="0" cy="0"/>
          <a:chOff x="0" y="0"/>
          <a:chExt cx="0" cy="0"/>
        </a:xfrm>
      </p:grpSpPr>
      <p:sp>
        <p:nvSpPr>
          <p:cNvPr name="Freeform 2" id="2"/>
          <p:cNvSpPr/>
          <p:nvPr/>
        </p:nvSpPr>
        <p:spPr>
          <a:xfrm flipH="false" flipV="false" rot="0">
            <a:off x="1071519" y="817702"/>
            <a:ext cx="497769" cy="495421"/>
          </a:xfrm>
          <a:custGeom>
            <a:avLst/>
            <a:gdLst/>
            <a:ahLst/>
            <a:cxnLst/>
            <a:rect r="r" b="b" t="t" l="l"/>
            <a:pathLst>
              <a:path h="495421" w="497769">
                <a:moveTo>
                  <a:pt x="0" y="0"/>
                </a:moveTo>
                <a:lnTo>
                  <a:pt x="497768" y="0"/>
                </a:lnTo>
                <a:lnTo>
                  <a:pt x="497768" y="495421"/>
                </a:lnTo>
                <a:lnTo>
                  <a:pt x="0" y="495421"/>
                </a:lnTo>
                <a:lnTo>
                  <a:pt x="0" y="0"/>
                </a:lnTo>
                <a:close/>
              </a:path>
            </a:pathLst>
          </a:custGeom>
          <a:blipFill>
            <a:blip r:embed="rId2"/>
            <a:stretch>
              <a:fillRect l="0" t="0" r="0" b="0"/>
            </a:stretch>
          </a:blipFill>
        </p:spPr>
      </p:sp>
      <p:grpSp>
        <p:nvGrpSpPr>
          <p:cNvPr name="Group 3" id="3"/>
          <p:cNvGrpSpPr/>
          <p:nvPr/>
        </p:nvGrpSpPr>
        <p:grpSpPr>
          <a:xfrm rot="374770">
            <a:off x="-1666180" y="6478089"/>
            <a:ext cx="20251759" cy="18180272"/>
            <a:chOff x="0" y="0"/>
            <a:chExt cx="5333797" cy="4788220"/>
          </a:xfrm>
        </p:grpSpPr>
        <p:sp>
          <p:nvSpPr>
            <p:cNvPr name="Freeform 4" id="4"/>
            <p:cNvSpPr/>
            <p:nvPr/>
          </p:nvSpPr>
          <p:spPr>
            <a:xfrm flipH="false" flipV="false" rot="0">
              <a:off x="0" y="0"/>
              <a:ext cx="5333797" cy="4788220"/>
            </a:xfrm>
            <a:custGeom>
              <a:avLst/>
              <a:gdLst/>
              <a:ahLst/>
              <a:cxnLst/>
              <a:rect r="r" b="b" t="t" l="l"/>
              <a:pathLst>
                <a:path h="4788220" w="5333797">
                  <a:moveTo>
                    <a:pt x="0" y="0"/>
                  </a:moveTo>
                  <a:lnTo>
                    <a:pt x="5333797" y="0"/>
                  </a:lnTo>
                  <a:lnTo>
                    <a:pt x="5333797" y="4788220"/>
                  </a:lnTo>
                  <a:lnTo>
                    <a:pt x="0" y="4788220"/>
                  </a:lnTo>
                  <a:close/>
                </a:path>
              </a:pathLst>
            </a:custGeom>
            <a:gradFill rotWithShape="true">
              <a:gsLst>
                <a:gs pos="0">
                  <a:srgbClr val="27DDDF">
                    <a:alpha val="0"/>
                  </a:srgbClr>
                </a:gs>
                <a:gs pos="100000">
                  <a:srgbClr val="27DDDF">
                    <a:alpha val="100000"/>
                  </a:srgbClr>
                </a:gs>
              </a:gsLst>
              <a:lin ang="5400000"/>
            </a:gradFill>
          </p:spPr>
        </p:sp>
        <p:sp>
          <p:nvSpPr>
            <p:cNvPr name="TextBox 5" id="5"/>
            <p:cNvSpPr txBox="true"/>
            <p:nvPr/>
          </p:nvSpPr>
          <p:spPr>
            <a:xfrm>
              <a:off x="0" y="19050"/>
              <a:ext cx="5333797" cy="4769170"/>
            </a:xfrm>
            <a:prstGeom prst="rect">
              <a:avLst/>
            </a:prstGeom>
          </p:spPr>
          <p:txBody>
            <a:bodyPr anchor="ctr" rtlCol="false" tIns="50800" lIns="50800" bIns="50800" rIns="50800"/>
            <a:lstStyle/>
            <a:p>
              <a:pPr algn="ctr" marL="0" indent="0" lvl="0">
                <a:lnSpc>
                  <a:spcPts val="1387"/>
                </a:lnSpc>
              </a:pPr>
            </a:p>
          </p:txBody>
        </p:sp>
      </p:grpSp>
      <p:grpSp>
        <p:nvGrpSpPr>
          <p:cNvPr name="Group 6" id="6"/>
          <p:cNvGrpSpPr/>
          <p:nvPr/>
        </p:nvGrpSpPr>
        <p:grpSpPr>
          <a:xfrm rot="0">
            <a:off x="15154957" y="756844"/>
            <a:ext cx="2104343" cy="481425"/>
            <a:chOff x="0" y="0"/>
            <a:chExt cx="1776404" cy="406400"/>
          </a:xfrm>
        </p:grpSpPr>
        <p:sp>
          <p:nvSpPr>
            <p:cNvPr name="Freeform 7" id="7"/>
            <p:cNvSpPr/>
            <p:nvPr/>
          </p:nvSpPr>
          <p:spPr>
            <a:xfrm flipH="false" flipV="false" rot="0">
              <a:off x="0" y="0"/>
              <a:ext cx="1776404" cy="406400"/>
            </a:xfrm>
            <a:custGeom>
              <a:avLst/>
              <a:gdLst/>
              <a:ahLst/>
              <a:cxnLst/>
              <a:rect r="r" b="b" t="t" l="l"/>
              <a:pathLst>
                <a:path h="406400" w="1776404">
                  <a:moveTo>
                    <a:pt x="1573204" y="0"/>
                  </a:moveTo>
                  <a:cubicBezTo>
                    <a:pt x="1685428" y="0"/>
                    <a:pt x="1776404" y="90976"/>
                    <a:pt x="1776404" y="203200"/>
                  </a:cubicBezTo>
                  <a:cubicBezTo>
                    <a:pt x="1776404" y="315424"/>
                    <a:pt x="1685428" y="406400"/>
                    <a:pt x="1573204" y="406400"/>
                  </a:cubicBezTo>
                  <a:lnTo>
                    <a:pt x="203200" y="406400"/>
                  </a:lnTo>
                  <a:cubicBezTo>
                    <a:pt x="90976" y="406400"/>
                    <a:pt x="0" y="315424"/>
                    <a:pt x="0" y="203200"/>
                  </a:cubicBezTo>
                  <a:cubicBezTo>
                    <a:pt x="0" y="90976"/>
                    <a:pt x="90976" y="0"/>
                    <a:pt x="203200" y="0"/>
                  </a:cubicBezTo>
                  <a:close/>
                </a:path>
              </a:pathLst>
            </a:custGeom>
            <a:ln w="9525" cap="sq">
              <a:solidFill>
                <a:srgbClr val="FFFFFF"/>
              </a:solidFill>
              <a:prstDash val="solid"/>
              <a:miter/>
            </a:ln>
          </p:spPr>
        </p:sp>
        <p:sp>
          <p:nvSpPr>
            <p:cNvPr name="TextBox 8" id="8"/>
            <p:cNvSpPr txBox="true"/>
            <p:nvPr/>
          </p:nvSpPr>
          <p:spPr>
            <a:xfrm>
              <a:off x="0" y="-38100"/>
              <a:ext cx="1776404" cy="444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3641709" y="8553082"/>
            <a:ext cx="3402253" cy="705218"/>
            <a:chOff x="0" y="0"/>
            <a:chExt cx="887526" cy="183966"/>
          </a:xfrm>
        </p:grpSpPr>
        <p:sp>
          <p:nvSpPr>
            <p:cNvPr name="Freeform 10" id="10"/>
            <p:cNvSpPr/>
            <p:nvPr/>
          </p:nvSpPr>
          <p:spPr>
            <a:xfrm flipH="false" flipV="false" rot="0">
              <a:off x="0" y="0"/>
              <a:ext cx="887526" cy="183966"/>
            </a:xfrm>
            <a:custGeom>
              <a:avLst/>
              <a:gdLst/>
              <a:ahLst/>
              <a:cxnLst/>
              <a:rect r="r" b="b" t="t" l="l"/>
              <a:pathLst>
                <a:path h="183966" w="887526">
                  <a:moveTo>
                    <a:pt x="47786" y="0"/>
                  </a:moveTo>
                  <a:lnTo>
                    <a:pt x="839740" y="0"/>
                  </a:lnTo>
                  <a:cubicBezTo>
                    <a:pt x="866131" y="0"/>
                    <a:pt x="887526" y="21395"/>
                    <a:pt x="887526" y="47786"/>
                  </a:cubicBezTo>
                  <a:lnTo>
                    <a:pt x="887526" y="136180"/>
                  </a:lnTo>
                  <a:cubicBezTo>
                    <a:pt x="887526" y="148854"/>
                    <a:pt x="882491" y="161008"/>
                    <a:pt x="873530" y="169970"/>
                  </a:cubicBezTo>
                  <a:cubicBezTo>
                    <a:pt x="864568" y="178932"/>
                    <a:pt x="852414" y="183966"/>
                    <a:pt x="839740" y="183966"/>
                  </a:cubicBezTo>
                  <a:lnTo>
                    <a:pt x="47786" y="183966"/>
                  </a:lnTo>
                  <a:cubicBezTo>
                    <a:pt x="21395" y="183966"/>
                    <a:pt x="0" y="162572"/>
                    <a:pt x="0" y="136180"/>
                  </a:cubicBezTo>
                  <a:lnTo>
                    <a:pt x="0" y="47786"/>
                  </a:lnTo>
                  <a:cubicBezTo>
                    <a:pt x="0" y="21395"/>
                    <a:pt x="21395" y="0"/>
                    <a:pt x="47786" y="0"/>
                  </a:cubicBezTo>
                  <a:close/>
                </a:path>
              </a:pathLst>
            </a:custGeom>
            <a:ln w="9525" cap="rnd">
              <a:solidFill>
                <a:srgbClr val="FFFFFF"/>
              </a:solidFill>
              <a:prstDash val="solid"/>
              <a:round/>
            </a:ln>
          </p:spPr>
        </p:sp>
        <p:sp>
          <p:nvSpPr>
            <p:cNvPr name="TextBox 11" id="11"/>
            <p:cNvSpPr txBox="true"/>
            <p:nvPr/>
          </p:nvSpPr>
          <p:spPr>
            <a:xfrm>
              <a:off x="0" y="19050"/>
              <a:ext cx="887526" cy="164916"/>
            </a:xfrm>
            <a:prstGeom prst="rect">
              <a:avLst/>
            </a:prstGeom>
          </p:spPr>
          <p:txBody>
            <a:bodyPr anchor="ctr" rtlCol="false" tIns="50800" lIns="50800" bIns="50800" rIns="50800"/>
            <a:lstStyle/>
            <a:p>
              <a:pPr algn="ctr" marL="0" indent="0" lvl="0">
                <a:lnSpc>
                  <a:spcPts val="1387"/>
                </a:lnSpc>
              </a:pPr>
            </a:p>
          </p:txBody>
        </p:sp>
      </p:grpSp>
      <p:grpSp>
        <p:nvGrpSpPr>
          <p:cNvPr name="Group 12" id="12"/>
          <p:cNvGrpSpPr/>
          <p:nvPr/>
        </p:nvGrpSpPr>
        <p:grpSpPr>
          <a:xfrm rot="0">
            <a:off x="7442874" y="8553082"/>
            <a:ext cx="3402253" cy="705218"/>
            <a:chOff x="0" y="0"/>
            <a:chExt cx="887526" cy="183966"/>
          </a:xfrm>
        </p:grpSpPr>
        <p:sp>
          <p:nvSpPr>
            <p:cNvPr name="Freeform 13" id="13"/>
            <p:cNvSpPr/>
            <p:nvPr/>
          </p:nvSpPr>
          <p:spPr>
            <a:xfrm flipH="false" flipV="false" rot="0">
              <a:off x="0" y="0"/>
              <a:ext cx="887526" cy="183966"/>
            </a:xfrm>
            <a:custGeom>
              <a:avLst/>
              <a:gdLst/>
              <a:ahLst/>
              <a:cxnLst/>
              <a:rect r="r" b="b" t="t" l="l"/>
              <a:pathLst>
                <a:path h="183966" w="887526">
                  <a:moveTo>
                    <a:pt x="47786" y="0"/>
                  </a:moveTo>
                  <a:lnTo>
                    <a:pt x="839740" y="0"/>
                  </a:lnTo>
                  <a:cubicBezTo>
                    <a:pt x="866131" y="0"/>
                    <a:pt x="887526" y="21395"/>
                    <a:pt x="887526" y="47786"/>
                  </a:cubicBezTo>
                  <a:lnTo>
                    <a:pt x="887526" y="136180"/>
                  </a:lnTo>
                  <a:cubicBezTo>
                    <a:pt x="887526" y="148854"/>
                    <a:pt x="882491" y="161008"/>
                    <a:pt x="873530" y="169970"/>
                  </a:cubicBezTo>
                  <a:cubicBezTo>
                    <a:pt x="864568" y="178932"/>
                    <a:pt x="852414" y="183966"/>
                    <a:pt x="839740" y="183966"/>
                  </a:cubicBezTo>
                  <a:lnTo>
                    <a:pt x="47786" y="183966"/>
                  </a:lnTo>
                  <a:cubicBezTo>
                    <a:pt x="21395" y="183966"/>
                    <a:pt x="0" y="162572"/>
                    <a:pt x="0" y="136180"/>
                  </a:cubicBezTo>
                  <a:lnTo>
                    <a:pt x="0" y="47786"/>
                  </a:lnTo>
                  <a:cubicBezTo>
                    <a:pt x="0" y="21395"/>
                    <a:pt x="21395" y="0"/>
                    <a:pt x="47786" y="0"/>
                  </a:cubicBezTo>
                  <a:close/>
                </a:path>
              </a:pathLst>
            </a:custGeom>
            <a:ln w="9525" cap="rnd">
              <a:solidFill>
                <a:srgbClr val="FFFFFF"/>
              </a:solidFill>
              <a:prstDash val="solid"/>
              <a:round/>
            </a:ln>
          </p:spPr>
        </p:sp>
        <p:sp>
          <p:nvSpPr>
            <p:cNvPr name="TextBox 14" id="14"/>
            <p:cNvSpPr txBox="true"/>
            <p:nvPr/>
          </p:nvSpPr>
          <p:spPr>
            <a:xfrm>
              <a:off x="0" y="19050"/>
              <a:ext cx="887526" cy="164916"/>
            </a:xfrm>
            <a:prstGeom prst="rect">
              <a:avLst/>
            </a:prstGeom>
          </p:spPr>
          <p:txBody>
            <a:bodyPr anchor="ctr" rtlCol="false" tIns="50800" lIns="50800" bIns="50800" rIns="50800"/>
            <a:lstStyle/>
            <a:p>
              <a:pPr algn="ctr" marL="0" indent="0" lvl="0">
                <a:lnSpc>
                  <a:spcPts val="1387"/>
                </a:lnSpc>
              </a:pPr>
            </a:p>
          </p:txBody>
        </p:sp>
      </p:grpSp>
      <p:sp>
        <p:nvSpPr>
          <p:cNvPr name="TextBox 15" id="15"/>
          <p:cNvSpPr txBox="true"/>
          <p:nvPr/>
        </p:nvSpPr>
        <p:spPr>
          <a:xfrm rot="0">
            <a:off x="8448397" y="8796328"/>
            <a:ext cx="2052548" cy="200787"/>
          </a:xfrm>
          <a:prstGeom prst="rect">
            <a:avLst/>
          </a:prstGeom>
        </p:spPr>
        <p:txBody>
          <a:bodyPr anchor="t" rtlCol="false" tIns="0" lIns="0" bIns="0" rIns="0">
            <a:spAutoFit/>
          </a:bodyPr>
          <a:lstStyle/>
          <a:p>
            <a:pPr algn="l" marL="0" indent="0" lvl="0">
              <a:lnSpc>
                <a:spcPts val="1254"/>
              </a:lnSpc>
            </a:pPr>
            <a:r>
              <a:rPr lang="en-US" sz="1425">
                <a:solidFill>
                  <a:srgbClr val="FFFFFF"/>
                </a:solidFill>
                <a:latin typeface="Arial MT Pro"/>
                <a:ea typeface="Arial MT Pro"/>
                <a:cs typeface="Arial MT Pro"/>
                <a:sym typeface="Arial MT Pro"/>
              </a:rPr>
              <a:t>rim.sakine@emsi.ma</a:t>
            </a:r>
          </a:p>
        </p:txBody>
      </p:sp>
      <p:grpSp>
        <p:nvGrpSpPr>
          <p:cNvPr name="Group 16" id="16"/>
          <p:cNvGrpSpPr/>
          <p:nvPr/>
        </p:nvGrpSpPr>
        <p:grpSpPr>
          <a:xfrm rot="0">
            <a:off x="11244039" y="8553082"/>
            <a:ext cx="3402253" cy="705218"/>
            <a:chOff x="0" y="0"/>
            <a:chExt cx="887526" cy="183966"/>
          </a:xfrm>
        </p:grpSpPr>
        <p:sp>
          <p:nvSpPr>
            <p:cNvPr name="Freeform 17" id="17"/>
            <p:cNvSpPr/>
            <p:nvPr/>
          </p:nvSpPr>
          <p:spPr>
            <a:xfrm flipH="false" flipV="false" rot="0">
              <a:off x="0" y="0"/>
              <a:ext cx="887526" cy="183966"/>
            </a:xfrm>
            <a:custGeom>
              <a:avLst/>
              <a:gdLst/>
              <a:ahLst/>
              <a:cxnLst/>
              <a:rect r="r" b="b" t="t" l="l"/>
              <a:pathLst>
                <a:path h="183966" w="887526">
                  <a:moveTo>
                    <a:pt x="47786" y="0"/>
                  </a:moveTo>
                  <a:lnTo>
                    <a:pt x="839740" y="0"/>
                  </a:lnTo>
                  <a:cubicBezTo>
                    <a:pt x="866131" y="0"/>
                    <a:pt x="887526" y="21395"/>
                    <a:pt x="887526" y="47786"/>
                  </a:cubicBezTo>
                  <a:lnTo>
                    <a:pt x="887526" y="136180"/>
                  </a:lnTo>
                  <a:cubicBezTo>
                    <a:pt x="887526" y="148854"/>
                    <a:pt x="882491" y="161008"/>
                    <a:pt x="873530" y="169970"/>
                  </a:cubicBezTo>
                  <a:cubicBezTo>
                    <a:pt x="864568" y="178932"/>
                    <a:pt x="852414" y="183966"/>
                    <a:pt x="839740" y="183966"/>
                  </a:cubicBezTo>
                  <a:lnTo>
                    <a:pt x="47786" y="183966"/>
                  </a:lnTo>
                  <a:cubicBezTo>
                    <a:pt x="21395" y="183966"/>
                    <a:pt x="0" y="162572"/>
                    <a:pt x="0" y="136180"/>
                  </a:cubicBezTo>
                  <a:lnTo>
                    <a:pt x="0" y="47786"/>
                  </a:lnTo>
                  <a:cubicBezTo>
                    <a:pt x="0" y="21395"/>
                    <a:pt x="21395" y="0"/>
                    <a:pt x="47786" y="0"/>
                  </a:cubicBezTo>
                  <a:close/>
                </a:path>
              </a:pathLst>
            </a:custGeom>
            <a:ln w="9525" cap="rnd">
              <a:solidFill>
                <a:srgbClr val="FFFFFF"/>
              </a:solidFill>
              <a:prstDash val="solid"/>
              <a:round/>
            </a:ln>
          </p:spPr>
        </p:sp>
        <p:sp>
          <p:nvSpPr>
            <p:cNvPr name="TextBox 18" id="18"/>
            <p:cNvSpPr txBox="true"/>
            <p:nvPr/>
          </p:nvSpPr>
          <p:spPr>
            <a:xfrm>
              <a:off x="0" y="19050"/>
              <a:ext cx="887526" cy="164916"/>
            </a:xfrm>
            <a:prstGeom prst="rect">
              <a:avLst/>
            </a:prstGeom>
          </p:spPr>
          <p:txBody>
            <a:bodyPr anchor="ctr" rtlCol="false" tIns="50800" lIns="50800" bIns="50800" rIns="50800"/>
            <a:lstStyle/>
            <a:p>
              <a:pPr algn="ctr" marL="0" indent="0" lvl="0">
                <a:lnSpc>
                  <a:spcPts val="1387"/>
                </a:lnSpc>
              </a:pPr>
            </a:p>
          </p:txBody>
        </p:sp>
      </p:grpSp>
      <p:sp>
        <p:nvSpPr>
          <p:cNvPr name="TextBox 19" id="19"/>
          <p:cNvSpPr txBox="true"/>
          <p:nvPr/>
        </p:nvSpPr>
        <p:spPr>
          <a:xfrm rot="0">
            <a:off x="12249562" y="8796328"/>
            <a:ext cx="2052548" cy="200787"/>
          </a:xfrm>
          <a:prstGeom prst="rect">
            <a:avLst/>
          </a:prstGeom>
        </p:spPr>
        <p:txBody>
          <a:bodyPr anchor="t" rtlCol="false" tIns="0" lIns="0" bIns="0" rIns="0">
            <a:spAutoFit/>
          </a:bodyPr>
          <a:lstStyle/>
          <a:p>
            <a:pPr algn="l" marL="0" indent="0" lvl="0">
              <a:lnSpc>
                <a:spcPts val="1254"/>
              </a:lnSpc>
            </a:pPr>
            <a:r>
              <a:rPr lang="en-US" sz="1425">
                <a:solidFill>
                  <a:srgbClr val="FFFFFF"/>
                </a:solidFill>
                <a:latin typeface="Arial MT Pro"/>
                <a:ea typeface="Arial MT Pro"/>
                <a:cs typeface="Arial MT Pro"/>
                <a:sym typeface="Arial MT Pro"/>
              </a:rPr>
              <a:t>linkedin.com/in/rimsakine</a:t>
            </a:r>
          </a:p>
        </p:txBody>
      </p:sp>
      <p:sp>
        <p:nvSpPr>
          <p:cNvPr name="Freeform 20" id="20"/>
          <p:cNvSpPr/>
          <p:nvPr/>
        </p:nvSpPr>
        <p:spPr>
          <a:xfrm flipH="false" flipV="false" rot="0">
            <a:off x="7826167" y="8696499"/>
            <a:ext cx="416511" cy="416511"/>
          </a:xfrm>
          <a:custGeom>
            <a:avLst/>
            <a:gdLst/>
            <a:ahLst/>
            <a:cxnLst/>
            <a:rect r="r" b="b" t="t" l="l"/>
            <a:pathLst>
              <a:path h="416511" w="416511">
                <a:moveTo>
                  <a:pt x="0" y="0"/>
                </a:moveTo>
                <a:lnTo>
                  <a:pt x="416511" y="0"/>
                </a:lnTo>
                <a:lnTo>
                  <a:pt x="416511" y="416511"/>
                </a:lnTo>
                <a:lnTo>
                  <a:pt x="0" y="416511"/>
                </a:lnTo>
                <a:lnTo>
                  <a:pt x="0" y="0"/>
                </a:lnTo>
                <a:close/>
              </a:path>
            </a:pathLst>
          </a:custGeom>
          <a:blipFill>
            <a:blip r:embed="rId3"/>
            <a:stretch>
              <a:fillRect l="0" t="0" r="0" b="0"/>
            </a:stretch>
          </a:blipFill>
        </p:spPr>
      </p:sp>
      <p:sp>
        <p:nvSpPr>
          <p:cNvPr name="Freeform 21" id="21"/>
          <p:cNvSpPr/>
          <p:nvPr/>
        </p:nvSpPr>
        <p:spPr>
          <a:xfrm flipH="false" flipV="false" rot="0">
            <a:off x="3949299" y="8695776"/>
            <a:ext cx="695155" cy="416334"/>
          </a:xfrm>
          <a:custGeom>
            <a:avLst/>
            <a:gdLst/>
            <a:ahLst/>
            <a:cxnLst/>
            <a:rect r="r" b="b" t="t" l="l"/>
            <a:pathLst>
              <a:path h="416334" w="695155">
                <a:moveTo>
                  <a:pt x="0" y="0"/>
                </a:moveTo>
                <a:lnTo>
                  <a:pt x="695155" y="0"/>
                </a:lnTo>
                <a:lnTo>
                  <a:pt x="695155" y="416334"/>
                </a:lnTo>
                <a:lnTo>
                  <a:pt x="0" y="416334"/>
                </a:lnTo>
                <a:lnTo>
                  <a:pt x="0" y="0"/>
                </a:lnTo>
                <a:close/>
              </a:path>
            </a:pathLst>
          </a:custGeom>
          <a:blipFill>
            <a:blip r:embed="rId4"/>
            <a:stretch>
              <a:fillRect l="0" t="0" r="0" b="0"/>
            </a:stretch>
          </a:blipFill>
        </p:spPr>
      </p:sp>
      <p:sp>
        <p:nvSpPr>
          <p:cNvPr name="Freeform 22" id="22"/>
          <p:cNvSpPr/>
          <p:nvPr/>
        </p:nvSpPr>
        <p:spPr>
          <a:xfrm flipH="false" flipV="false" rot="0">
            <a:off x="11661912" y="8700412"/>
            <a:ext cx="412318" cy="412318"/>
          </a:xfrm>
          <a:custGeom>
            <a:avLst/>
            <a:gdLst/>
            <a:ahLst/>
            <a:cxnLst/>
            <a:rect r="r" b="b" t="t" l="l"/>
            <a:pathLst>
              <a:path h="412318" w="412318">
                <a:moveTo>
                  <a:pt x="0" y="0"/>
                </a:moveTo>
                <a:lnTo>
                  <a:pt x="412318" y="0"/>
                </a:lnTo>
                <a:lnTo>
                  <a:pt x="412318" y="412318"/>
                </a:lnTo>
                <a:lnTo>
                  <a:pt x="0" y="412318"/>
                </a:lnTo>
                <a:lnTo>
                  <a:pt x="0" y="0"/>
                </a:lnTo>
                <a:close/>
              </a:path>
            </a:pathLst>
          </a:custGeom>
          <a:blipFill>
            <a:blip r:embed="rId5"/>
            <a:stretch>
              <a:fillRect l="0" t="0" r="0" b="0"/>
            </a:stretch>
          </a:blipFill>
        </p:spPr>
      </p:sp>
      <p:sp>
        <p:nvSpPr>
          <p:cNvPr name="TextBox 23" id="23"/>
          <p:cNvSpPr txBox="true"/>
          <p:nvPr/>
        </p:nvSpPr>
        <p:spPr>
          <a:xfrm rot="0">
            <a:off x="1795032" y="920927"/>
            <a:ext cx="1302079" cy="280636"/>
          </a:xfrm>
          <a:prstGeom prst="rect">
            <a:avLst/>
          </a:prstGeom>
        </p:spPr>
        <p:txBody>
          <a:bodyPr anchor="t" rtlCol="false" tIns="0" lIns="0" bIns="0" rIns="0">
            <a:spAutoFit/>
          </a:bodyPr>
          <a:lstStyle/>
          <a:p>
            <a:pPr algn="l" marL="0" indent="0" lvl="0">
              <a:lnSpc>
                <a:spcPts val="1733"/>
              </a:lnSpc>
            </a:pPr>
            <a:r>
              <a:rPr lang="en-US" b="true" sz="1970" spc="-31">
                <a:solidFill>
                  <a:srgbClr val="FFFFFF"/>
                </a:solidFill>
                <a:latin typeface="Arial MT Pro Bold"/>
                <a:ea typeface="Arial MT Pro Bold"/>
                <a:cs typeface="Arial MT Pro Bold"/>
                <a:sym typeface="Arial MT Pro Bold"/>
              </a:rPr>
              <a:t>MoviesApp</a:t>
            </a:r>
          </a:p>
        </p:txBody>
      </p:sp>
      <p:sp>
        <p:nvSpPr>
          <p:cNvPr name="TextBox 24" id="24"/>
          <p:cNvSpPr txBox="true"/>
          <p:nvPr/>
        </p:nvSpPr>
        <p:spPr>
          <a:xfrm rot="0">
            <a:off x="13923200" y="911402"/>
            <a:ext cx="3002725" cy="173498"/>
          </a:xfrm>
          <a:prstGeom prst="rect">
            <a:avLst/>
          </a:prstGeom>
        </p:spPr>
        <p:txBody>
          <a:bodyPr anchor="t" rtlCol="false" tIns="0" lIns="0" bIns="0" rIns="0">
            <a:spAutoFit/>
          </a:bodyPr>
          <a:lstStyle/>
          <a:p>
            <a:pPr algn="r" marL="0" indent="0" lvl="0">
              <a:lnSpc>
                <a:spcPts val="1075"/>
              </a:lnSpc>
            </a:pPr>
            <a:r>
              <a:rPr lang="en-US" sz="1222">
                <a:solidFill>
                  <a:srgbClr val="FFFFFF"/>
                </a:solidFill>
                <a:latin typeface="Arial MT Pro"/>
                <a:ea typeface="Arial MT Pro"/>
                <a:cs typeface="Arial MT Pro"/>
                <a:sym typeface="Arial MT Pro"/>
              </a:rPr>
              <a:t>@RimSakine</a:t>
            </a:r>
          </a:p>
        </p:txBody>
      </p:sp>
      <p:sp>
        <p:nvSpPr>
          <p:cNvPr name="TextBox 25" id="25"/>
          <p:cNvSpPr txBox="true"/>
          <p:nvPr/>
        </p:nvSpPr>
        <p:spPr>
          <a:xfrm rot="0">
            <a:off x="13179026" y="911402"/>
            <a:ext cx="1136202" cy="173498"/>
          </a:xfrm>
          <a:prstGeom prst="rect">
            <a:avLst/>
          </a:prstGeom>
        </p:spPr>
        <p:txBody>
          <a:bodyPr anchor="t" rtlCol="false" tIns="0" lIns="0" bIns="0" rIns="0">
            <a:spAutoFit/>
          </a:bodyPr>
          <a:lstStyle/>
          <a:p>
            <a:pPr algn="r" marL="0" indent="0" lvl="0">
              <a:lnSpc>
                <a:spcPts val="1075"/>
              </a:lnSpc>
            </a:pPr>
            <a:r>
              <a:rPr lang="en-US" sz="1222">
                <a:solidFill>
                  <a:srgbClr val="FFFFFF"/>
                </a:solidFill>
                <a:latin typeface="Arial MT Pro"/>
                <a:ea typeface="Arial MT Pro"/>
                <a:cs typeface="Arial MT Pro"/>
                <a:sym typeface="Arial MT Pro"/>
              </a:rPr>
              <a:t>Contact</a:t>
            </a:r>
          </a:p>
        </p:txBody>
      </p:sp>
      <p:sp>
        <p:nvSpPr>
          <p:cNvPr name="TextBox 26" id="26"/>
          <p:cNvSpPr txBox="true"/>
          <p:nvPr/>
        </p:nvSpPr>
        <p:spPr>
          <a:xfrm rot="0">
            <a:off x="11721551" y="911402"/>
            <a:ext cx="811975" cy="173498"/>
          </a:xfrm>
          <a:prstGeom prst="rect">
            <a:avLst/>
          </a:prstGeom>
        </p:spPr>
        <p:txBody>
          <a:bodyPr anchor="t" rtlCol="false" tIns="0" lIns="0" bIns="0" rIns="0">
            <a:spAutoFit/>
          </a:bodyPr>
          <a:lstStyle/>
          <a:p>
            <a:pPr algn="r" marL="0" indent="0" lvl="0">
              <a:lnSpc>
                <a:spcPts val="1075"/>
              </a:lnSpc>
            </a:pPr>
            <a:r>
              <a:rPr lang="en-US" sz="1222">
                <a:solidFill>
                  <a:srgbClr val="FFFFFF"/>
                </a:solidFill>
                <a:latin typeface="Arial MT Pro"/>
                <a:ea typeface="Arial MT Pro"/>
                <a:cs typeface="Arial MT Pro"/>
                <a:sym typeface="Arial MT Pro"/>
              </a:rPr>
              <a:t>EMSI</a:t>
            </a:r>
          </a:p>
        </p:txBody>
      </p:sp>
      <p:sp>
        <p:nvSpPr>
          <p:cNvPr name="TextBox 27" id="27"/>
          <p:cNvSpPr txBox="true"/>
          <p:nvPr/>
        </p:nvSpPr>
        <p:spPr>
          <a:xfrm rot="0">
            <a:off x="2080871" y="4001801"/>
            <a:ext cx="14126257" cy="2226044"/>
          </a:xfrm>
          <a:prstGeom prst="rect">
            <a:avLst/>
          </a:prstGeom>
        </p:spPr>
        <p:txBody>
          <a:bodyPr anchor="t" rtlCol="false" tIns="0" lIns="0" bIns="0" rIns="0">
            <a:spAutoFit/>
          </a:bodyPr>
          <a:lstStyle/>
          <a:p>
            <a:pPr algn="ctr" marL="0" indent="0" lvl="0">
              <a:lnSpc>
                <a:spcPts val="14840"/>
              </a:lnSpc>
            </a:pPr>
            <a:r>
              <a:rPr lang="en-US" b="true" sz="14269" spc="-599">
                <a:solidFill>
                  <a:srgbClr val="FFFFFF"/>
                </a:solidFill>
                <a:latin typeface="Arial MT Pro Bold"/>
                <a:ea typeface="Arial MT Pro Bold"/>
                <a:cs typeface="Arial MT Pro Bold"/>
                <a:sym typeface="Arial MT Pro Bold"/>
              </a:rPr>
              <a:t>Merci !</a:t>
            </a:r>
          </a:p>
        </p:txBody>
      </p:sp>
      <p:sp>
        <p:nvSpPr>
          <p:cNvPr name="TextBox 28" id="28"/>
          <p:cNvSpPr txBox="true"/>
          <p:nvPr/>
        </p:nvSpPr>
        <p:spPr>
          <a:xfrm rot="0">
            <a:off x="4647232" y="8796328"/>
            <a:ext cx="2052548" cy="200787"/>
          </a:xfrm>
          <a:prstGeom prst="rect">
            <a:avLst/>
          </a:prstGeom>
        </p:spPr>
        <p:txBody>
          <a:bodyPr anchor="t" rtlCol="false" tIns="0" lIns="0" bIns="0" rIns="0">
            <a:spAutoFit/>
          </a:bodyPr>
          <a:lstStyle/>
          <a:p>
            <a:pPr algn="l" marL="0" indent="0" lvl="0">
              <a:lnSpc>
                <a:spcPts val="1254"/>
              </a:lnSpc>
            </a:pPr>
            <a:r>
              <a:rPr lang="en-US" sz="1425">
                <a:solidFill>
                  <a:srgbClr val="FFFFFF"/>
                </a:solidFill>
                <a:latin typeface="Arial MT Pro"/>
                <a:ea typeface="Arial MT Pro"/>
                <a:cs typeface="Arial MT Pro"/>
                <a:sym typeface="Arial MT Pro"/>
              </a:rPr>
              <a:t>EMSI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DAHKKDKq8wA</dc:identifier>
  <dcterms:modified xsi:type="dcterms:W3CDTF">2011-08-01T06:04:30Z</dcterms:modified>
  <cp:revision>1</cp:revision>
  <dc:title>MoviesApp – Présentation Projet EMSI 2025-2026</dc:title>
</cp:coreProperties>
</file>